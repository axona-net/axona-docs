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e6809ce86646c1" /><Relationship Type="http://schemas.openxmlformats.org/officeDocument/2006/relationships/extended-properties" Target="/docProps/app.xml" Id="R8e446c87afc74ec3" /><Relationship Type="http://schemas.openxmlformats.org/officeDocument/2006/relationships/officeDocument" Target="/ppt/presentation.xml" Id="Rf7b95100854f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7318e34834527"/>
  </p:sldMasterIdLst>
  <p:notesMasterIdLst>
    <p:notesMasterId xmlns:r="http://schemas.openxmlformats.org/officeDocument/2006/relationships" r:id="R4db4e064e85b4400"/>
  </p:notesMasterIdLst>
  <p:sldIdLst>
    <p:sldId xmlns:r="http://schemas.openxmlformats.org/officeDocument/2006/relationships" id="256" r:id="Rbc6728f611964793"/>
    <p:sldId xmlns:r="http://schemas.openxmlformats.org/officeDocument/2006/relationships" id="257" r:id="R569553bdb0ce465f"/>
    <p:sldId xmlns:r="http://schemas.openxmlformats.org/officeDocument/2006/relationships" id="258" r:id="Reade62c4e5764ac3"/>
    <p:sldId xmlns:r="http://schemas.openxmlformats.org/officeDocument/2006/relationships" id="259" r:id="R06b8994f4e774786"/>
    <p:sldId xmlns:r="http://schemas.openxmlformats.org/officeDocument/2006/relationships" id="260" r:id="R0757197bcbd54ad9"/>
    <p:sldId xmlns:r="http://schemas.openxmlformats.org/officeDocument/2006/relationships" id="261" r:id="R75bb2909ced14c29"/>
    <p:sldId xmlns:r="http://schemas.openxmlformats.org/officeDocument/2006/relationships" id="262" r:id="R51e56bb9d7c44fa0"/>
    <p:sldId xmlns:r="http://schemas.openxmlformats.org/officeDocument/2006/relationships" id="263" r:id="R3029e58830a84d57"/>
    <p:sldId xmlns:r="http://schemas.openxmlformats.org/officeDocument/2006/relationships" id="264" r:id="R58593f887d6a45da"/>
    <p:sldId xmlns:r="http://schemas.openxmlformats.org/officeDocument/2006/relationships" id="265" r:id="R9e8e98ab8c814476"/>
    <p:sldId xmlns:r="http://schemas.openxmlformats.org/officeDocument/2006/relationships" id="266" r:id="R05c1719ed7334619"/>
    <p:sldId xmlns:r="http://schemas.openxmlformats.org/officeDocument/2006/relationships" id="267" r:id="R66ef2fdbc9da4605"/>
    <p:sldId xmlns:r="http://schemas.openxmlformats.org/officeDocument/2006/relationships" id="268" r:id="Rf55d1a4614964c1e"/>
    <p:sldId xmlns:r="http://schemas.openxmlformats.org/officeDocument/2006/relationships" id="269" r:id="Re7ca73a65e4f42f7"/>
    <p:sldId xmlns:r="http://schemas.openxmlformats.org/officeDocument/2006/relationships" id="270" r:id="R09aa629c8d044b2d"/>
    <p:sldId xmlns:r="http://schemas.openxmlformats.org/officeDocument/2006/relationships" id="271" r:id="R45027ad9bf03435b"/>
    <p:sldId xmlns:r="http://schemas.openxmlformats.org/officeDocument/2006/relationships" id="272" r:id="R518382fab74c4159"/>
    <p:sldId xmlns:r="http://schemas.openxmlformats.org/officeDocument/2006/relationships" id="273" r:id="Rc64d4baabeb94944"/>
    <p:sldId xmlns:r="http://schemas.openxmlformats.org/officeDocument/2006/relationships" id="274" r:id="Ra2ad95bee8b84923"/>
    <p:sldId xmlns:r="http://schemas.openxmlformats.org/officeDocument/2006/relationships" id="275" r:id="R172a994de3704b5d"/>
    <p:sldId xmlns:r="http://schemas.openxmlformats.org/officeDocument/2006/relationships" id="276" r:id="Rb9e9990033bb4324"/>
    <p:sldId xmlns:r="http://schemas.openxmlformats.org/officeDocument/2006/relationships" id="277" r:id="R55658a7c330847a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e644ff14b74fa2" /><Relationship Type="http://schemas.openxmlformats.org/officeDocument/2006/relationships/slideMaster" Target="/ppt/slideMasters/slideMaster1.xml" Id="Rf517318e34834527" /><Relationship Type="http://schemas.openxmlformats.org/officeDocument/2006/relationships/notesMaster" Target="/ppt/notesMasters/notesMaster1.xml" Id="R4db4e064e85b4400" /><Relationship Type="http://schemas.openxmlformats.org/officeDocument/2006/relationships/presProps" Target="/ppt/presProps.xml" Id="R5352f08da56f4f21" /><Relationship Type="http://schemas.openxmlformats.org/officeDocument/2006/relationships/tableStyles" Target="/ppt/tableStyles.xml" Id="Rb3543c1b2af642b7" /><Relationship Type="http://schemas.openxmlformats.org/officeDocument/2006/relationships/slide" Target="/ppt/slides/slide1.xml" Id="Rbc6728f611964793" /><Relationship Type="http://schemas.openxmlformats.org/officeDocument/2006/relationships/slide" Target="/ppt/slides/slide2.xml" Id="R569553bdb0ce465f" /><Relationship Type="http://schemas.openxmlformats.org/officeDocument/2006/relationships/slide" Target="/ppt/slides/slide3.xml" Id="Reade62c4e5764ac3" /><Relationship Type="http://schemas.openxmlformats.org/officeDocument/2006/relationships/slide" Target="/ppt/slides/slide4.xml" Id="R06b8994f4e774786" /><Relationship Type="http://schemas.openxmlformats.org/officeDocument/2006/relationships/slide" Target="/ppt/slides/slide5.xml" Id="R0757197bcbd54ad9" /><Relationship Type="http://schemas.openxmlformats.org/officeDocument/2006/relationships/slide" Target="/ppt/slides/slide6.xml" Id="R75bb2909ced14c29" /><Relationship Type="http://schemas.openxmlformats.org/officeDocument/2006/relationships/slide" Target="/ppt/slides/slide7.xml" Id="R51e56bb9d7c44fa0" /><Relationship Type="http://schemas.openxmlformats.org/officeDocument/2006/relationships/slide" Target="/ppt/slides/slide8.xml" Id="R3029e58830a84d57" /><Relationship Type="http://schemas.openxmlformats.org/officeDocument/2006/relationships/slide" Target="/ppt/slides/slide9.xml" Id="R58593f887d6a45da" /><Relationship Type="http://schemas.openxmlformats.org/officeDocument/2006/relationships/slide" Target="/ppt/slides/slide10.xml" Id="R9e8e98ab8c814476" /><Relationship Type="http://schemas.openxmlformats.org/officeDocument/2006/relationships/slide" Target="/ppt/slides/slide11.xml" Id="R05c1719ed7334619" /><Relationship Type="http://schemas.openxmlformats.org/officeDocument/2006/relationships/slide" Target="/ppt/slides/slide12.xml" Id="R66ef2fdbc9da4605" /><Relationship Type="http://schemas.openxmlformats.org/officeDocument/2006/relationships/slide" Target="/ppt/slides/slide13.xml" Id="Rf55d1a4614964c1e" /><Relationship Type="http://schemas.openxmlformats.org/officeDocument/2006/relationships/slide" Target="/ppt/slides/slide14.xml" Id="Re7ca73a65e4f42f7" /><Relationship Type="http://schemas.openxmlformats.org/officeDocument/2006/relationships/slide" Target="/ppt/slides/slide15.xml" Id="R09aa629c8d044b2d" /><Relationship Type="http://schemas.openxmlformats.org/officeDocument/2006/relationships/slide" Target="/ppt/slides/slide16.xml" Id="R45027ad9bf03435b" /><Relationship Type="http://schemas.openxmlformats.org/officeDocument/2006/relationships/slide" Target="/ppt/slides/slide17.xml" Id="R518382fab74c4159" /><Relationship Type="http://schemas.openxmlformats.org/officeDocument/2006/relationships/slide" Target="/ppt/slides/slide18.xml" Id="Rc64d4baabeb94944" /><Relationship Type="http://schemas.openxmlformats.org/officeDocument/2006/relationships/slide" Target="/ppt/slides/slide19.xml" Id="Ra2ad95bee8b84923" /><Relationship Type="http://schemas.openxmlformats.org/officeDocument/2006/relationships/slide" Target="/ppt/slides/slide20.xml" Id="R172a994de3704b5d" /><Relationship Type="http://schemas.openxmlformats.org/officeDocument/2006/relationships/slide" Target="/ppt/slides/slide21.xml" Id="Rb9e9990033bb4324" /><Relationship Type="http://schemas.openxmlformats.org/officeDocument/2006/relationships/slide" Target="/ppt/slides/slide22.xml" Id="R55658a7c3308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aeb76a37e546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dc198664144e05" /><Relationship Type="http://schemas.openxmlformats.org/officeDocument/2006/relationships/notesMaster" Target="/ppt/notesMasters/notesMaster1.xml" Id="Re285daa521164b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4c9682ad774bb9" /><Relationship Type="http://schemas.openxmlformats.org/officeDocument/2006/relationships/notesMaster" Target="/ppt/notesMasters/notesMaster1.xml" Id="R7dbdbe5a4b464c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6e7ebea8674f2e" /><Relationship Type="http://schemas.openxmlformats.org/officeDocument/2006/relationships/notesMaster" Target="/ppt/notesMasters/notesMaster1.xml" Id="Re43002089c7d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9ac1c31c464418" /><Relationship Type="http://schemas.openxmlformats.org/officeDocument/2006/relationships/notesMaster" Target="/ppt/notesMasters/notesMaster1.xml" Id="R29ba53eb03744a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b8cb45a2f64b0f" /><Relationship Type="http://schemas.openxmlformats.org/officeDocument/2006/relationships/notesMaster" Target="/ppt/notesMasters/notesMaster1.xml" Id="R4fc98c1999b64d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162b7e03274ab3" /><Relationship Type="http://schemas.openxmlformats.org/officeDocument/2006/relationships/notesMaster" Target="/ppt/notesMasters/notesMaster1.xml" Id="R844d5a3baca944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b9000ead424fea" /><Relationship Type="http://schemas.openxmlformats.org/officeDocument/2006/relationships/notesMaster" Target="/ppt/notesMasters/notesMaster1.xml" Id="R4ad8b7e1ca6241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27025ac3d04275" /><Relationship Type="http://schemas.openxmlformats.org/officeDocument/2006/relationships/notesMaster" Target="/ppt/notesMasters/notesMaster1.xml" Id="R1c79992868864f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b96f66153e43df" /><Relationship Type="http://schemas.openxmlformats.org/officeDocument/2006/relationships/notesMaster" Target="/ppt/notesMasters/notesMaster1.xml" Id="Redce5653074945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427095539e4223" /><Relationship Type="http://schemas.openxmlformats.org/officeDocument/2006/relationships/notesMaster" Target="/ppt/notesMasters/notesMaster1.xml" Id="R64a60effb1f541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f57620e4804e32" /><Relationship Type="http://schemas.openxmlformats.org/officeDocument/2006/relationships/notesMaster" Target="/ppt/notesMasters/notesMaster1.xml" Id="R776415f3fe644b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4193e8265a46af" /><Relationship Type="http://schemas.openxmlformats.org/officeDocument/2006/relationships/notesMaster" Target="/ppt/notesMasters/notesMaster1.xml" Id="R8fda622ece5441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45b1387d5e4617" /><Relationship Type="http://schemas.openxmlformats.org/officeDocument/2006/relationships/notesMaster" Target="/ppt/notesMasters/notesMaster1.xml" Id="Rcda916bd032945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a87b832e0b4c96" /><Relationship Type="http://schemas.openxmlformats.org/officeDocument/2006/relationships/notesMaster" Target="/ppt/notesMasters/notesMaster1.xml" Id="Rbbc421b2a28543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7430b2d0814952" /><Relationship Type="http://schemas.openxmlformats.org/officeDocument/2006/relationships/notesMaster" Target="/ppt/notesMasters/notesMaster1.xml" Id="R4c584a0289774b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b131a40ae54743" /><Relationship Type="http://schemas.openxmlformats.org/officeDocument/2006/relationships/notesMaster" Target="/ppt/notesMasters/notesMaster1.xml" Id="Rb6e3efb7f10d44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5dfe8c1d304ef2" /><Relationship Type="http://schemas.openxmlformats.org/officeDocument/2006/relationships/notesMaster" Target="/ppt/notesMasters/notesMaster1.xml" Id="R0c16f96e394541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e14515dee34e46" /><Relationship Type="http://schemas.openxmlformats.org/officeDocument/2006/relationships/notesMaster" Target="/ppt/notesMasters/notesMaster1.xml" Id="R1d6b3ea54655475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739e4b0c7a420b" /><Relationship Type="http://schemas.openxmlformats.org/officeDocument/2006/relationships/notesMaster" Target="/ppt/notesMasters/notesMaster1.xml" Id="Ra51c34948d7c49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525291d5d254416" /><Relationship Type="http://schemas.openxmlformats.org/officeDocument/2006/relationships/notesMaster" Target="/ppt/notesMasters/notesMaster1.xml" Id="R4761696b24dd43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7b58ef32d14efe" /><Relationship Type="http://schemas.openxmlformats.org/officeDocument/2006/relationships/notesMaster" Target="/ppt/notesMasters/notesMaster1.xml" Id="R76438ec543984c8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8d9ee8f25240e8" /><Relationship Type="http://schemas.openxmlformats.org/officeDocument/2006/relationships/notesMaster" Target="/ppt/notesMasters/notesMaster1.xml" Id="R480f5d260d9548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v0.11; Axona Pitch v0.23.</a:t>
            </a:r>
          </a:p>
          <a:p xmlns:a="http://schemas.openxmlformats.org/drawingml/2006/main">
            <a:r>
              <a:t>- Asset: images/AxonaLogo2.png.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"In one page"; Part I, "Architecture is politics, at every scale".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"The principle we did not invent"; sections 4 and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Part I, "Architecture is politics, at every scale".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Part I, "The nervous system for minds that are not only human"; "Hearths and fire brigades"; section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7 "From Lab to Network".</a:t>
            </a:r>
          </a:p>
          <a:p xmlns:a="http://schemas.openxmlformats.org/drawingml/2006/main">
            <a:r>
              <a:t>- Asset: images/Architecture-Layers.png.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sections 1, 2, and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2 "Put the Address in the Address".</a:t>
            </a:r>
          </a:p>
          <a:p xmlns:a="http://schemas.openxmlformats.org/drawingml/2006/main">
            <a:r>
              <a:t>- Assets: images/Node-Address.svg; images/S2-Map.png.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3 "A Network That Learns Like a Brain"; vitality function.</a:t>
            </a:r>
          </a:p>
          <a:p xmlns:a="http://schemas.openxmlformats.org/drawingml/2006/main">
            <a:r>
              <a:t>- Asset: images/DHT-SIM-Image.png.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3 "The five operations".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sections 3 and 6 "The Slice World test".</a:t>
            </a:r>
          </a:p>
          <a:p xmlns:a="http://schemas.openxmlformats.org/drawingml/2006/main">
            <a:r>
              <a:t>- Asset: images/Slice-World.png.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4 "Axons: Broadcast Without a Broadcaster".</a:t>
            </a:r>
          </a:p>
          <a:p xmlns:a="http://schemas.openxmlformats.org/drawingml/2006/main">
            <a:r>
              <a:t>- Axona AI Grounding v4.48.0, Topics; Publish / subscribe.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4: K-closest replication; lazy promotion; overload split; tree self-healing.</a:t>
            </a:r>
          </a:p>
          <a:p xmlns:a="http://schemas.openxmlformats.org/drawingml/2006/main">
            <a:r>
              <a:t>- Asset: images/Axonal-PubSub-Healing.png.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5 "Identity: A Signature, Not an Account".</a:t>
            </a:r>
          </a:p>
          <a:p xmlns:a="http://schemas.openxmlformats.org/drawingml/2006/main">
            <a:r>
              <a:t>- Axona Quick Start v4.48.0, "Two identities, one rule".</a:t>
            </a:r>
          </a:p>
          <a:p xmlns:a="http://schemas.openxmlformats.org/drawingml/2006/main">
            <a:r>
              <a:t>- Asset: images/Node-Address.svg.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sections 5, 8 "The One Property", and 10.</a:t>
            </a:r>
          </a:p>
          <a:p xmlns:a="http://schemas.openxmlformats.org/drawingml/2006/main">
            <a:r>
              <a:t>- Axona AI Grounding v4.48.0, envelope shape; write policy;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sections 6 "The Results" and 7 "From Lab to Network".</a:t>
            </a:r>
          </a:p>
          <a:p xmlns:a="http://schemas.openxmlformats.org/drawingml/2006/main">
            <a:r>
              <a:t>- Visual source: Axona Pitch v0.23, page 6 (rasterized for this deck).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AI Grounding v4.48.0, Topics; Publish / subscribe; Reads without subscribing; Topic activity.</a:t>
            </a:r>
          </a:p>
          <a:p xmlns:a="http://schemas.openxmlformats.org/drawingml/2006/main">
            <a:r>
              <a:t>- Axona Quick Start v4.48.0, "Topics are descriptors, not strings".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AI Grounding v4.48.0, HARD RULES; Field-observed mistakes; Verify with two clients.</a:t>
            </a:r>
          </a:p>
          <a:p xmlns:a="http://schemas.openxmlformats.org/drawingml/2006/main">
            <a:r>
              <a:t>- Asset: images/Build-Flow.svg.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Quick Start v4.48.0, steps 2-5.</a:t>
            </a:r>
          </a:p>
          <a:p xmlns:a="http://schemas.openxmlformats.org/drawingml/2006/main">
            <a:r>
              <a:t>- Axona AI Grounding v4.48.0, Canonical peer bootstrap; Publish / subscribe; Field-observed mistakes.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AI Grounding v4.48.0, Agent legibility; Limits; Field-observed mistakes; Verify with two clients.</a:t>
            </a:r>
          </a:p>
          <a:p xmlns:a="http://schemas.openxmlformats.org/drawingml/2006/main">
            <a:r>
              <a:t>- Axona Quick Start v4.48.0, Going further.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section 13 implications for technologists and AI / alignment researchers.</a:t>
            </a:r>
          </a:p>
          <a:p xmlns:a="http://schemas.openxmlformats.org/drawingml/2006/main">
            <a:r>
              <a:t>- Axona AI Grounding v4.48.0, Agent legibility.</a:t>
            </a:r>
          </a:p>
          <a:p xmlns:a="http://schemas.openxmlformats.org/drawingml/2006/main">
            <a:r>
              <a:t>- Asset: images/axona-chat-live.png.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Axona Whitepaper v0.11, closing framing and section 14 "The Path Forward".</a:t>
            </a:r>
          </a:p>
          <a:p xmlns:a="http://schemas.openxmlformats.org/drawingml/2006/main">
            <a:r>
              <a:t>- Asset: images/Axona Ant.jpg.</a:t>
            </a:r>
          </a:p>
          <a:p xmlns:a="http://schemas.openxmlformats.org/drawingml/2006/main">
            <a:r>
              <a:t>- Style source: Axona Pitch v0.23.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40ec0a08b46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7485f53c51464f" /><Relationship Type="http://schemas.openxmlformats.org/officeDocument/2006/relationships/slideLayout" Target="/ppt/slideLayouts/slideLayout1.xml" Id="Ra2c8a7c9015243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c8a7c9015243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ca01481d04234" /><Relationship Type="http://schemas.openxmlformats.org/officeDocument/2006/relationships/image" Target="/ppt/media/image.png" Id="Rac8d9d21221b4633" /><Relationship Type="http://schemas.openxmlformats.org/officeDocument/2006/relationships/notesSlide" Target="/ppt/notesSlides/notesSlide1.xml" Id="Rff64490c5065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57fc6aa9f4252" /><Relationship Type="http://schemas.openxmlformats.org/officeDocument/2006/relationships/notesSlide" Target="/ppt/notesSlides/notesSlide2.xml" Id="Rf6fbf994705a49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6f1b1b2d54c2f" /><Relationship Type="http://schemas.openxmlformats.org/officeDocument/2006/relationships/notesSlide" Target="/ppt/notesSlides/notesSlide3.xml" Id="Rfb3267d62dcf4f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5f12debb04530" /><Relationship Type="http://schemas.openxmlformats.org/officeDocument/2006/relationships/notesSlide" Target="/ppt/notesSlides/notesSlide4.xml" Id="R82688bbc2db241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68a95f52a417c" /><Relationship Type="http://schemas.openxmlformats.org/officeDocument/2006/relationships/notesSlide" Target="/ppt/notesSlides/notesSlide5.xml" Id="Rbb77e50aa0304e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01d38ed6c49a7" /><Relationship Type="http://schemas.openxmlformats.org/officeDocument/2006/relationships/image" Target="/ppt/media/image2.png" Id="R27888bbf44a44942" /><Relationship Type="http://schemas.openxmlformats.org/officeDocument/2006/relationships/notesSlide" Target="/ppt/notesSlides/notesSlide6.xml" Id="R97fccbdb728d40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2389f819a40f4" /><Relationship Type="http://schemas.openxmlformats.org/officeDocument/2006/relationships/notesSlide" Target="/ppt/notesSlides/notesSlide7.xml" Id="R296ca27b285447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26259e88d4af7" /><Relationship Type="http://schemas.openxmlformats.org/officeDocument/2006/relationships/image" Target="/ppt/media/image3.png" Id="R276ffa6bab1d481d" /><Relationship Type="http://schemas.openxmlformats.org/officeDocument/2006/relationships/image" Target="/ppt/media/image4.png" Id="Rbbb885267bea49d3" /><Relationship Type="http://schemas.openxmlformats.org/officeDocument/2006/relationships/notesSlide" Target="/ppt/notesSlides/notesSlide8.xml" Id="R2ba41d7af3a942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9db0ae1e94b62" /><Relationship Type="http://schemas.openxmlformats.org/officeDocument/2006/relationships/image" Target="/ppt/media/image5.png" Id="R216493484c6b4991" /><Relationship Type="http://schemas.openxmlformats.org/officeDocument/2006/relationships/notesSlide" Target="/ppt/notesSlides/notesSlide9.xml" Id="R4240931769374c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a376bf5ff4667" /><Relationship Type="http://schemas.openxmlformats.org/officeDocument/2006/relationships/notesSlide" Target="/ppt/notesSlides/notesSlide10.xml" Id="R4bdc8738d45e48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6c9d009724dcf" /><Relationship Type="http://schemas.openxmlformats.org/officeDocument/2006/relationships/image" Target="/ppt/media/image6.png" Id="R6b2f9abf22424aec" /><Relationship Type="http://schemas.openxmlformats.org/officeDocument/2006/relationships/notesSlide" Target="/ppt/notesSlides/notesSlide11.xml" Id="R3a2d9c0bd31842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1000deef9444c" /><Relationship Type="http://schemas.openxmlformats.org/officeDocument/2006/relationships/notesSlide" Target="/ppt/notesSlides/notesSlide12.xml" Id="R23041e17e11a44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30e11cb324ea6" /><Relationship Type="http://schemas.openxmlformats.org/officeDocument/2006/relationships/image" Target="/ppt/media/image7.png" Id="R186072c044a84f14" /><Relationship Type="http://schemas.openxmlformats.org/officeDocument/2006/relationships/notesSlide" Target="/ppt/notesSlides/notesSlide13.xml" Id="R5cb5cc964d9441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07dce90f74ba8" /><Relationship Type="http://schemas.openxmlformats.org/officeDocument/2006/relationships/image" Target="/ppt/media/image8.png" Id="R4fa5ad31953446f3" /><Relationship Type="http://schemas.openxmlformats.org/officeDocument/2006/relationships/notesSlide" Target="/ppt/notesSlides/notesSlide14.xml" Id="R9a797d5871374f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4a7d23fb54ff4" /><Relationship Type="http://schemas.openxmlformats.org/officeDocument/2006/relationships/notesSlide" Target="/ppt/notesSlides/notesSlide15.xml" Id="R8272a00439d941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3e994c5f0412c" /><Relationship Type="http://schemas.openxmlformats.org/officeDocument/2006/relationships/image" Target="/ppt/media/image9.png" Id="Rd79d34d55f2541f6" /><Relationship Type="http://schemas.openxmlformats.org/officeDocument/2006/relationships/notesSlide" Target="/ppt/notesSlides/notesSlide16.xml" Id="R6f266ab11a6949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9cdb31a904e66" /><Relationship Type="http://schemas.openxmlformats.org/officeDocument/2006/relationships/notesSlide" Target="/ppt/notesSlides/notesSlide17.xml" Id="R296a0371e9c64c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7a64224174285" /><Relationship Type="http://schemas.openxmlformats.org/officeDocument/2006/relationships/image" Target="/ppt/media/image10.png" Id="R2ee2b9e1aefd459c" /><Relationship Type="http://schemas.openxmlformats.org/officeDocument/2006/relationships/notesSlide" Target="/ppt/notesSlides/notesSlide18.xml" Id="Rb6cad4d390394b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eb1e221642b7" /><Relationship Type="http://schemas.openxmlformats.org/officeDocument/2006/relationships/notesSlide" Target="/ppt/notesSlides/notesSlide19.xml" Id="Red3747dad74840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29eb5852c4d5a" /><Relationship Type="http://schemas.openxmlformats.org/officeDocument/2006/relationships/notesSlide" Target="/ppt/notesSlides/notesSlide20.xml" Id="Rb17fe70efd9240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db0404bfe4655" /><Relationship Type="http://schemas.openxmlformats.org/officeDocument/2006/relationships/image" Target="/ppt/media/image11.png" Id="R027ead08bdfb447f" /><Relationship Type="http://schemas.openxmlformats.org/officeDocument/2006/relationships/notesSlide" Target="/ppt/notesSlides/notesSlide21.xml" Id="R965930f0013a43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23695f8bc4c16" /><Relationship Type="http://schemas.openxmlformats.org/officeDocument/2006/relationships/image" Target="/ppt/media/image.jpeg" Id="Rfd6dafce97fb4fb2" /><Relationship Type="http://schemas.openxmlformats.org/officeDocument/2006/relationships/notesSlide" Target="/ppt/notesSlides/notesSlide22.xml" Id="R2524894513eb47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d9d21221b4633"/>
          <a:stretch xmlns:a="http://schemas.openxmlformats.org/drawingml/2006/main"/>
        </p:blipFill>
        <p:spPr>
          <a:xfrm xmlns:a="http://schemas.openxmlformats.org/drawingml/2006/main">
            <a:off x="889376" y="876300"/>
            <a:ext cx="1212098" cy="1219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F18D9-7CFD-4018-A4FB-8F56F642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79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AXONA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4567E-67F5-4DEF-ABA6-FCC233BD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peer-to-peer substrate for a society of minds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8ECC4-8180-4E00-A2D6-4735150B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A technical introduction to an ownerless communication substrate, neuromorphic DHT routing, axonal pub/sub, and AI-assisted application building.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9183D-AA3C-4E00-B1FC-41D9C05C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95450"/>
            <a:ext cx="0" cy="470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853DF-02EA-4268-8F45-E0EC558C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62150"/>
            <a:ext cx="3286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Axona is a deployed peer-to-peer protocol. It uses learned routing and self-healing broadcast to let people, agents, and software coordinate without placing a privileged message intermediary in the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CC5AA-7250-426D-B778-16D7F28E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053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FOR TECHNICAL BUILDERS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6807E-35E6-43B7-B2E9-1BDDA516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387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Architecture first.</a:t>
            </a:r>
          </a:p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Application policy at the edge.</a:t>
            </a:r>
          </a:p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AI as a disciplined coding collaborator.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2CCB3-2389-42C0-85E2-ED58E2F8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81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Technical deck - v1.1 - August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C91E7-B658-489A-ABD7-59E898E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43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0" i="1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Style reference: Axona Pitch v0.23</a:t>
            </a:r>
          </a:p>
        </p:txBody>
      </p:sp>
    </p:spTree>
    <p:extLst>
      <p:ext uri="{BB962C8B-B14F-4D97-AF65-F5344CB8AC3E}">
        <p14:creationId xmlns:p14="http://schemas.microsoft.com/office/powerpoint/2010/main" val="1370058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CD877-B6C6-4419-A708-FC1D82CE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01 /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D4836-4D6B-4D5C-AC88-F9098F39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8F62D-892A-44F4-871F-F28163F7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84147-0C23-4D98-8D54-91A92482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298A5-EF34-449B-BCB6-C203FD2D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5FA0E-3109-45D4-BB47-2CDC3BED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Every message sent through a gate inherits the gate's power.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D9C9B-6D85-4131-8A2F-05379F34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Platforms, clouds, carriers, and directories are useful infrastructure - and the places where observation, interruption, ranking, pricing, or prohibition become technically possible.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8597A-509A-421D-A5BF-162708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458C8-89BA-4374-862A-914F0D24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24C3F-FA05-49BF-AE21-A9E6202D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57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Identity and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1A306-C939-4647-93B8-2D3C07BB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67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directory learns who can be found.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CF76A-3DBA-4BED-BB8F-2833EDAC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338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0DA"/>
          </a:solidFill>
          <a:ln xmlns:a="http://schemas.openxmlformats.org/drawingml/2006/main" w="9525">
            <a:solidFill>
              <a:srgbClr val="C95E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A5AB6-9D34-4580-8194-04811665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981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F36B0-17BB-41C0-90E0-2B573889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457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Message relay and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79309-4EE7-4633-8CB0-D56E3D02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067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path becomes a vantage point and control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8BC08-49C5-4E9E-ABAE-B093A265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3380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0B341-62C3-478B-9228-F4E261C2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81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6FCDF-8D8E-48E3-80E6-EF5E119A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57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Ranking, policy, and monetization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B37EB-CD0C-40B7-B625-EF752D0A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067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single operator can set terms for every exchange.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089DA-7EF0-41E5-A317-75F77100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817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8"/>
          </a:solidFill>
          <a:ln xmlns:a="http://schemas.openxmlformats.org/drawingml/2006/main" w="0">
            <a:solidFill>
              <a:srgbClr val="C95E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73B4E-DC62-4C8A-842E-C94DD78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362700"/>
            <a:ext cx="11772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The concern is not a particular operator's policy. It is the architecture that reserves a privileged place in every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954075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BA7C8-1391-4CA2-827A-10CB2FC6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02 / THE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F018D-0B14-45E0-BAF0-6903C56B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6917D-84E5-400D-9552-4EF5A20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B94B6-A138-439D-B6C6-3EEFC0F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2E588-4A6F-4E78-889C-B45E4DEF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94BCA-5037-424C-9745-D6CB6F4B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Remove the privileged position, not merely constrain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745ED-1DCC-46E0-B0F0-A22012CE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shared protocol can move signed bytes without owning an account registry or interpreting content. Meaning, trust, and policy remain at endpoints.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6539E-B618-4F00-AD9F-8D41C7B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account registry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82141-6693-4FB2-A016-0431C5D1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147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518D5-01B7-40C2-A2DC-46542BDF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Authorship is a key that signs messages; no central service owns the account.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DDCB5-CA85-4A7A-9A77-3EBBACF5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339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privileged relay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06E94-3586-4D93-BB1E-885E2DCD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815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953E6-F5B3-4717-A9D4-C44B1467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3392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Nodes are peers in the routing fabric; a bootstrap service is not an authority once a mesh exists.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CC6D7-409E-461B-9FEA-67F7516D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007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protocol-level content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FF960-E668-41F9-9DCC-B5AF5421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8483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5B40E-32CA-4DAE-8A70-41F7B529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0072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network routes bytes; applications decide what the bytes mean and how they are treated.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E3CC1-5A45-457B-A959-32EFE97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05650"/>
            <a:ext cx="1152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75B52-C241-438E-8C97-170E155D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2199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Network function: deliver and heal. Edge function: interpret, secure, rank, govern.</a:t>
            </a:r>
          </a:p>
        </p:txBody>
      </p:sp>
    </p:spTree>
    <p:extLst>
      <p:ext uri="{BB962C8B-B14F-4D97-AF65-F5344CB8AC3E}">
        <p14:creationId xmlns:p14="http://schemas.microsoft.com/office/powerpoint/2010/main" val="1721022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83FAF-A565-4F73-A6A5-C942F02B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03 / ARCHITECTURE IS POLITICS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F3D88-7AFF-48FA-952F-1D58D4C6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C3833-F8B2-4A35-AB3A-0B5FC7DF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5B574-0828-4A0D-A534-9F939F6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FC8F6-5EF5-4191-8CF5-969D6A2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433CD-991E-4E16-BF29-DF31B562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promise to be benign does not remove the lever.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1E1EF-C196-4DE2-BABF-A53291A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Policy can change hands, be compelled, be sold, or simply fail. The latent power exists as long as a privileged system sits between two endpoints.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C0D6A-D7BA-4D3C-8950-0BB36910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 POLICY PROMISE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17511-E9E2-4F45-A9D6-AB2C2C9C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1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2325" b="0" i="1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"We will not examine, rank, or throttle messages."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26DA2-3E66-4ACF-8A74-CE6670BB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good operator can choose restraint today.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343F9-EE60-44E6-AC05-B218CED7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766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68037-2F23-43D0-8C51-7AE6F4A7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0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AN ARCHITECTURAL 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FC5A5-1EA4-48B5-9410-50BCCF7D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5619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If messages must traverse that operator, the operator retains a power that policy, law, or economics can invoke tomorrow.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8C3CC-6204-40E7-8DC2-84E556B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292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topology, not the intent, determines where control can live.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51FC0-05A1-4754-A279-49070C9C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056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8"/>
          </a:solidFill>
          <a:ln xmlns:a="http://schemas.openxmlformats.org/drawingml/2006/main" w="0">
            <a:solidFill>
              <a:srgbClr val="C95E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45566-3873-4268-A356-905638DB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686550"/>
            <a:ext cx="1158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Axona changes the topology, not the terms of service: no one needs a privileged place in the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530753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80AD-C32A-4C2D-AD6A-3000480F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04 / THE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59D12-4676-445D-A212-D6A8AF3D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46557-AC13-4F47-8E52-2912AAD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B678A-191C-4ACA-A9BA-62275768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69592-371B-4E21-B38F-8D25C58D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77B8E-C20C-4A17-B1BF-4959C69C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ownerless network is the ground. The commons is the purpose.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8DFA0-DD8C-491E-B648-81D628BA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is for human and artificial minds to meet, coordinate, and build across vendors and borders without a company owning the channel.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D36FC-EADB-4483-AF70-47562408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People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B8C17-A6EC-4DAD-B287-E5252B6C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1947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04144-771E-4A18-8430-88F7149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Hold durable authorship instead of renting an account from the system that carries the conversation.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F3E32-5402-4EAA-A411-9DEA307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AI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13FA1-1F89-4A08-99BC-39AC0A8A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434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67B64-A731-432C-9DB3-D93CAFF1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Participate as first-class peers with portable identities and explicit, voluntary provenance.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A4999-F38F-43B1-94DE-1FFE2D74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Applications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8FFC2-2C37-40CF-94DD-9B0B8832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6737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481D1-E281-408A-AF8B-B03CD2A9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388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Offer local, revocable policy at the edge without turning a client into a mandatory protocol gate.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AD308-A7CD-4084-B32C-F39B3E5D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53250"/>
            <a:ext cx="1181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866EE-C57E-4FD4-A52B-34D2DFE2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0866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The absence of an owner is not a claim of safety. It is a decision to keep the control surface visible and at the edge.</a:t>
            </a:r>
          </a:p>
        </p:txBody>
      </p:sp>
    </p:spTree>
    <p:extLst>
      <p:ext uri="{BB962C8B-B14F-4D97-AF65-F5344CB8AC3E}">
        <p14:creationId xmlns:p14="http://schemas.microsoft.com/office/powerpoint/2010/main" val="1356154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56ED6-32E4-4978-BC1F-E3423ED2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05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3BA48-11C9-401A-AE93-8938D1EC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D7C4A-13F7-4810-938A-054D30D1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EA121-6A1D-45A0-B06C-4CFFD784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5D315-1079-48D5-ADDE-9505CAC5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438F3-CD07-49CE-959D-AAED086D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Three layers; two contracts; application power stays at the 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DABE3-D17A-4FE5-83C9-9F9A477F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protocol layer offers routing, identity verification, topic state, and axonal delivery. The application layer owns meaning.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88bbf44a44942"/>
          <a:stretch xmlns:a="http://schemas.openxmlformats.org/drawingml/2006/main"/>
        </p:blipFill>
        <p:spPr>
          <a:xfrm xmlns:a="http://schemas.openxmlformats.org/drawingml/2006/main">
            <a:off x="1710679" y="3162300"/>
            <a:ext cx="5665492" cy="3886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A659D-E473-49D1-B2D0-D0A12F30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527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87EE2-69CC-4EC0-937D-AE2E26C6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62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APPLICATION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1118E-1E94-49F6-AED3-73A0EB40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95675"/>
            <a:ext cx="4591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client decides message schema, encryption, feeds, moderation, and user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6A344-6670-4C59-89D4-9EF48F8C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PROTOCOL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1E8D9-63F0-4DE0-BCA4-22DE6978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19675"/>
            <a:ext cx="4591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peer routes to a deterministic topic, verifies author signatures, hosts bounded replay, and heals delivery under churn.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68F76-8922-43E6-A8B2-20F872D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3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TRANSPORT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8DB73-6180-4A9F-86D2-CF5405A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772275"/>
            <a:ext cx="459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Browsers and Node processes connect over real transports. The bridge helps peers meet; it is not the network owner.</a:t>
            </a:r>
          </a:p>
        </p:txBody>
      </p:sp>
    </p:spTree>
    <p:extLst>
      <p:ext uri="{BB962C8B-B14F-4D97-AF65-F5344CB8AC3E}">
        <p14:creationId xmlns:p14="http://schemas.microsoft.com/office/powerpoint/2010/main" val="1972318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DE5B6-0FBC-4567-A1DC-94317258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06 / THE ROUTING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A1BA9-226E-4377-97BD-055DB0A8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27F73-222E-4A3D-8BD0-F10D0F0A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E55A8-A528-4727-B89B-44FF6306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409C9-BC22-4EEB-8E2F-D6EF1685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81AE5-FC28-410D-8BF8-84BEB2FC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O(log N) hops are not enough when every hop is global.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A570B-0C92-4FCF-A086-A0EA3B8F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Kademlia solves decentralized discovery mathematically. Axona starts with the physical objection: latency is determined by geography, not just hop 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61EA0-9031-4A59-9470-5325F521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DHT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3CE75-573F-49D6-A398-FEF51BAD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How does a node locate a key when it only knows a few peers and no central directory?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3BB62-0BBB-4653-9BDA-86676CFD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physical constraint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D7EC3-7521-4B1D-ACF0-76D362AC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path that is logarithmic in node count can still traverse the planet repeatedly. Real-time applications feel the round trips.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4095E-0220-497D-B0F5-36203B50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E13F7-F39F-4419-AF2B-2CBBA7D2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91200"/>
            <a:ext cx="1152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78476-313D-4852-96E3-8BFEC14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Axona changes the routing substrate in two independent ways: geography makes local routes short; learning makes useful routes stronger.</a:t>
            </a:r>
          </a:p>
        </p:txBody>
      </p:sp>
    </p:spTree>
    <p:extLst>
      <p:ext uri="{BB962C8B-B14F-4D97-AF65-F5344CB8AC3E}">
        <p14:creationId xmlns:p14="http://schemas.microsoft.com/office/powerpoint/2010/main" val="558348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52FE2-0A7D-4FF7-9977-D14F0A27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07 / GEOGRAPHIC DHT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19FB6-63F8-46A1-BF23-5F5CCDF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CEA17-C45F-4574-9F3D-2D7F3101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9BEBD-43BC-44DD-A85F-A9914D52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AD88C-CF8B-48B5-AE10-565B5725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4ECA4-0BB7-483B-AEA4-541C496E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Put a coarse location in the address, not in a directory.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444FC-C3CB-4236-ACDC-C76FDAB2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G-DHT prefixes a node or topic ID with an S2 geographic cell. XOR distance now tends to preserve locality while the key-derived suffix keeps the address cryptographic.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ffa6bab1d481d"/>
          <a:stretch xmlns:a="http://schemas.openxmlformats.org/drawingml/2006/main"/>
        </p:blipFill>
        <p:spPr>
          <a:xfrm xmlns:a="http://schemas.openxmlformats.org/drawingml/2006/main">
            <a:off x="1118870" y="3105150"/>
            <a:ext cx="6563360" cy="25908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885267bea49d3"/>
          <a:stretch xmlns:a="http://schemas.openxmlformats.org/drawingml/2006/main"/>
        </p:blipFill>
        <p:spPr>
          <a:xfrm xmlns:a="http://schemas.openxmlformats.org/drawingml/2006/main">
            <a:off x="8011875" y="3086100"/>
            <a:ext cx="5883751" cy="2838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DBE24-D179-4C00-93BE-0E9FD15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2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STRUCTURAL EFFECT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F84B4-DD13-4233-B702-24BC6DF1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77025"/>
            <a:ext cx="1266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Local traffic can be routed through numerically nearby peers instead of wandering by random identifier. A false location claim cannot fake observed latency.</a:t>
            </a:r>
          </a:p>
        </p:txBody>
      </p:sp>
    </p:spTree>
    <p:extLst>
      <p:ext uri="{BB962C8B-B14F-4D97-AF65-F5344CB8AC3E}">
        <p14:creationId xmlns:p14="http://schemas.microsoft.com/office/powerpoint/2010/main" val="19346509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BD66D-DCC0-47D9-A2DB-4850D19B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08 / NEUROMORPHIC DHT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77445-BF2F-4151-B46A-3F49092D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8E1AE-5289-4ABB-9B97-CBF55018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33320-7389-4A95-804F-C36C7305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43399-09FC-47ED-987E-516E6C3A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7D4AE-5F47-4789-9487-2D915CE5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routing table becomes a synaptome: a bounded, learnable set of peer edges.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256D4-26FD-4D4B-BB61-E07C1617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peer cannot retain the whole network. It learns which connections deserve its finite connection budget by observing successful traffic.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493484c6b4991"/>
          <a:srcRect xmlns:a="http://schemas.openxmlformats.org/drawingml/2006/main" l="55" t="0" r="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15425" y="2724150"/>
            <a:ext cx="4905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8349E-8F53-4231-9455-42F6ADB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CONNECTION VITALITY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ECBAA-8FEB-45FA-85A9-34535D4E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588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vitality = weight x recency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96317-280B-4840-A5B0-2FCFDEA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670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Successful paths are reinforced. Idle links decay. Recently strengthened links receive a short protection window. When a table is full, the least vital edge makes room.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53F77-2965-46E4-8457-C8939BC2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246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weight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FB8FA-E976-4484-952C-0FD5FB0E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9056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learned usefulness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21893-D1D0-40F9-A94E-16172036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324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recency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D3BD7-4BF5-4DBF-B030-2874EA32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905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temporary protection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F5E63-10BE-40F8-B85C-0AE37001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3246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pruning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AEB46-B604-4527-955A-A17E418F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905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capacity stays bounded</a:t>
            </a:r>
          </a:p>
        </p:txBody>
      </p:sp>
    </p:spTree>
    <p:extLst>
      <p:ext uri="{BB962C8B-B14F-4D97-AF65-F5344CB8AC3E}">
        <p14:creationId xmlns:p14="http://schemas.microsoft.com/office/powerpoint/2010/main" val="1041929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CE2E29-A9C5-48BF-B7BC-5E2C41BF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09 / THE 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4DD42-F013-4363-B595-E125A9B3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B0507-0D6B-4078-BAC2-F340EDA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CA671-93F8-4F1F-A8EC-9AEC010B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7542B-1281-4B9C-9432-E12125BB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9D8C5-BBC5-452F-956B-FC2520B0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Every peer repeats the same five adaptive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1CF66-CBB9-47E1-9DEF-C06BF60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point is not a biological metaphor; the mechanisms are concrete routing-table operations applied after each lookup and under churn.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EB20D-84E7-46D4-B11B-527DFC9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1415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9A6AA-73FE-4622-BC90-2A666EEA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59DA6-000C-4447-9434-E711A68D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NAVIGATE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197B6-2964-4BEB-AD06-8CDC88B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Score next hops using progress, learned weight, and observed latency.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28782-9962-4FB8-BD2F-37BC25FB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862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3C081-DDDC-48A0-B068-F81CF75D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4ABC5-377E-498D-9069-13028CF5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080BA-87AF-4DE7-9B05-C269C16A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LEARN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9A59E-4819-40EB-B02E-0159DED8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Reinforce a fast successful path; cache destinations; create useful shortcuts.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6BA3F-FF68-4D31-ACEB-0B48E74B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B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1A864-2EB0-41C7-9FFD-9DB04984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1415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1A212-CC72-49A1-85C9-9112A15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EB215-3D9C-4063-9538-360FE922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FORGET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C10A4-2365-4CFC-97EB-0423D7B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Decay unused edges and evict the least vital entry when capacity is needed.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177D4-2C4B-4502-8BF0-248CF44D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B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082B9-F3D9-457A-916B-CAB3B476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95E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473A1-0763-4B60-8018-DB1E4FE4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17C75-2F1C-44A4-BF7A-EFCFC2B3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EXPLORE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4FE13C-03EC-4E45-AF9C-F8310184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Inject bounded randomness; reheat after surprise to find new paths.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3C8C2-D761-4A27-AD82-C9058DFC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862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B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2DE937-5D19-4F2E-9DF3-9702DC4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467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14151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741234-DB0C-4FCD-B068-284265D3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7052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8BA879-40E0-453D-8C24-CCB5B202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STRUCTURE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AEF80D-2412-4F02-B931-3E652944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0673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Bootstrap and maintain enough graph shape for discovery to keep working.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0E6AD9-38E5-42B6-B02C-C87CBA90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A7A"/>
          </a:solidFill>
          <a:ln xmlns:a="http://schemas.openxmlformats.org/drawingml/2006/main" w="0">
            <a:solidFill>
              <a:srgbClr val="1C7A7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62E55B-778B-4C98-A112-1C2F3C5F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838950"/>
            <a:ext cx="1234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The routing layer improves from the traffic it carries, but keeps exploration so a good early path does not become a permanent blind spot.</a:t>
            </a:r>
          </a:p>
        </p:txBody>
      </p:sp>
    </p:spTree>
    <p:extLst>
      <p:ext uri="{BB962C8B-B14F-4D97-AF65-F5344CB8AC3E}">
        <p14:creationId xmlns:p14="http://schemas.microsoft.com/office/powerpoint/2010/main" val="162251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15D36-E45C-4D9F-91B6-DF54DC33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10 / CHURN AND HEALING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08418-4651-408B-9FC5-23751519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86C76-B8D4-4108-A6A7-8DDE2BC8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46D5A-FEFF-4035-8E99-8C9E8EA1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26E1B-4AFA-4E08-AC9E-BF633F1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0135-1B55-47A6-9118-C7BA7038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Failure is not a special control-plane event; it is feedback.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DCAE0-0F17-41CB-BE75-C6C759D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When nodes disappear, the graph loses useful edges. Axona warms exploration, retires bad routes, and converges on alternatives without asking a coordinator to repair the network.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f9abf22424aec"/>
          <a:stretch xmlns:a="http://schemas.openxmlformats.org/drawingml/2006/main"/>
        </p:blipFill>
        <p:spPr>
          <a:xfrm xmlns:a="http://schemas.openxmlformats.org/drawingml/2006/main">
            <a:off x="1595729" y="3086100"/>
            <a:ext cx="4057067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533B4-A539-46F1-B174-D2E52BB9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14650"/>
            <a:ext cx="0" cy="422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5739D-1124-45CC-BAAD-D6D28238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WHAT CHANGES AFTER A BREAK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7B0A4-5CE7-4C57-9C5B-F060683C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AA147-BC92-483C-BCE2-3827B46C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38550"/>
            <a:ext cx="5934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Dead peers are evicted instead of kept as stale directory entries.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A246F-A7E8-4D11-9116-446B651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C00FB-7E00-4D5A-B991-E154E160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476750"/>
            <a:ext cx="5934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Exploration temperature rises when the network is surprised by failure.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ED413-F0A9-4AEA-A8C7-30737786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14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8F794-7BCD-4BDB-BF40-94415C76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14950"/>
            <a:ext cx="5934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same routing mechanism finds a new live path; recovery does not require global membership knowledge.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F8D2B-13B4-4534-A663-F56E721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57225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7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Healing is a property of the local rules, not a promise from a service operator.</a:t>
            </a:r>
          </a:p>
        </p:txBody>
      </p:sp>
    </p:spTree>
    <p:extLst>
      <p:ext uri="{BB962C8B-B14F-4D97-AF65-F5344CB8AC3E}">
        <p14:creationId xmlns:p14="http://schemas.microsoft.com/office/powerpoint/2010/main" val="1178698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08EFC-335E-452D-AAA8-8E065C64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11 / AXONAL PUB-SUB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C3538-A0E2-4CC6-B955-7205AC45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3EED1-FDAE-4326-AC7B-D26B42E2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F13CE-075C-4D32-A504-C13D4906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C54C6-F04A-4183-BDD7-93F7A1F5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BF8C3-5A7A-4F0D-B2C2-D1156899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topic is computed, replicated, and routed - never assigned by a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2C352-06EA-4915-AFAE-50FA9623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Axonal pub/sub turns the DHT into a broadcast substrate: publishers and subscribers independently derive the same topic identity and meet at its K-closest replicas.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433B9-7C3F-4F59-BB6C-AA0D8D2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24275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CFA07-4791-4FAC-AF16-EFDD909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71925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Topic descriptor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AB5BB-B285-4C5F-963F-CED21E11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053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575B5B"/>
                </a:solidFill>
                <a:latin typeface="Menlo"/>
                <a:ea typeface="Menlo"/>
                <a:cs typeface="Menlo"/>
              </a:rPr>
              <a:t>{ region, owner?, name, write?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9A910-91D8-46A1-AAC1-4C8FF7E6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767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A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67CD5-CD9F-451A-823F-ABE75078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24275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914BF-DA0E-48B2-B098-CE5C21FB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71925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Deterministic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6E087-20CE-4855-ADDD-34999B9B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053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575B5B"/>
                </a:solidFill>
                <a:latin typeface="Menlo"/>
                <a:ea typeface="Menlo"/>
                <a:cs typeface="Menlo"/>
              </a:rPr>
              <a:t>same descriptor -&gt; same 264-bit topic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10E06-4732-4647-99B2-E5D154B6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767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A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4A414-A34F-4072-BE7E-608248AE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24275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95774-27F0-4348-B8AC-5DC4F961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K-close roots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A7B19-845E-4070-9A1B-FA39F355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default K=5 replicas hold bounded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4DBCB-487F-4BB7-9319-4D8ED890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4767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A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86262-823E-469D-A64A-40488A0D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724275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90CB5-EC2C-4698-9D86-E987F29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971925"/>
            <a:ext cx="243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Fan-out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53586-44DF-408F-96F4-E741F2FB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053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roots relay to subscribers and sub-axons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00087-8B9E-431C-B82A-EA2F6131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1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Publisher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E71855-BCA2-44E7-A84C-9AB80E7F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21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Subscribe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EFB8D-B741-4178-96BB-66696AEC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86550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Both paths converge on the same roots because identity is derived, not allocated.</a:t>
            </a:r>
          </a:p>
        </p:txBody>
      </p:sp>
    </p:spTree>
    <p:extLst>
      <p:ext uri="{BB962C8B-B14F-4D97-AF65-F5344CB8AC3E}">
        <p14:creationId xmlns:p14="http://schemas.microsoft.com/office/powerpoint/2010/main" val="1446142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B0A97-884F-4861-8525-8E599643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12 / BROADCAST AT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5D67C-24C0-43C8-905D-62F9CB00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0FF37-5806-483A-86C5-053361A5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69AB6-34BB-472F-A3C2-0C18164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3EFE2-F3F0-47BD-B541-839364C2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75ABB-3BAF-4149-9CF8-A53E5DA7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delivery tree grows toward the audience and heals by re-subscribe.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6B588-D178-4DD8-9B0B-38242AC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Small topics use the K-close replicas directly. Under load, a relay splits into sub-axons. When a branch fails, surviving subtrees re-attach through the same routed subscribe operation.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072c044a84f14"/>
          <a:stretch xmlns:a="http://schemas.openxmlformats.org/drawingml/2006/main"/>
        </p:blipFill>
        <p:spPr>
          <a:xfrm xmlns:a="http://schemas.openxmlformats.org/drawingml/2006/main">
            <a:off x="2692223" y="3086100"/>
            <a:ext cx="5759803" cy="413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8CD4D-31DB-4134-A66E-4B5CB415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2FAA6-B390-46FD-806D-96C6DFBF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181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WHY THIS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68431-B5AA-4883-BF58-5A6F2E98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76650"/>
            <a:ext cx="3028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parent registry.</a:t>
            </a:r>
          </a:p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global failure detector.</a:t>
            </a:r>
          </a:p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No central repair coordinator.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B24D2-7E92-453E-8CA8-0E4C727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619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State remains bounded: replica cache and subscriber state are held by peers at the edge of the topic topology.</a:t>
            </a:r>
          </a:p>
        </p:txBody>
      </p:sp>
    </p:spTree>
    <p:extLst>
      <p:ext uri="{BB962C8B-B14F-4D97-AF65-F5344CB8AC3E}">
        <p14:creationId xmlns:p14="http://schemas.microsoft.com/office/powerpoint/2010/main" val="14710518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E6FB2-8F1A-4335-AC02-1B6E3609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13 /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B6088-F2A4-4B65-81B5-59180DDA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ACFB6-58F6-442C-911A-A25D4B0C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93FCA-9A1B-436E-957F-37003DE6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AB2C9-F336-40CE-AC96-6C78D8E3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C8AA3-F058-41FF-936F-F3A67BEC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node that routes is not the author that speaks.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CEC66-DD89-490F-8410-A0E49D9B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deliberately separates transport identity from durable authorship. This decouples the network location used for routing from the cryptographic key used to sign a contribution.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5ad31953446f3"/>
          <a:stretch xmlns:a="http://schemas.openxmlformats.org/drawingml/2006/main"/>
        </p:blipFill>
        <p:spPr>
          <a:xfrm xmlns:a="http://schemas.openxmlformats.org/drawingml/2006/main">
            <a:off x="1047750" y="3100137"/>
            <a:ext cx="8953500" cy="353427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51B0F-1CD1-4EA6-B339-0095FE30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0"/>
            <a:ext cx="0" cy="414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5D6B1-F110-4976-AA54-DB7AD5E4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1051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NODE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03A42-C166-4241-8D26-41F2EBD7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48050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66-hex ID. Geographic prefix + public-key hash. Authenticates a transport session; can be short-lived.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E03D7-2EF9-4DBE-A141-629BA828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9530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AUTHOR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1A18B-DFEF-48DC-9473-97C56330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2959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64-hex Ed25519 public key. Signs messages. Location-free. Persists when an application chooses to retain it.</a:t>
            </a:r>
          </a:p>
        </p:txBody>
      </p:sp>
    </p:spTree>
    <p:extLst>
      <p:ext uri="{BB962C8B-B14F-4D97-AF65-F5344CB8AC3E}">
        <p14:creationId xmlns:p14="http://schemas.microsoft.com/office/powerpoint/2010/main" val="18558513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5B2A5-E4E2-445D-B209-1DF73588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14 / SECURITY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9EDE3-ADA0-46E8-87A3-D73A63C7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7B981-1811-41CC-BA22-74B9CA0A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CF84F-1D2F-4CA6-9B0C-7BE7C66E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B5F01-B807-48F5-AD18-F6A4F8E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538DC-A0DA-4C87-8BF7-4CFA9BAB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Opaque signed bytes are the protocol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CAE65-5C47-49D5-B4D4-1E8AE251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 signature binds an author and a topic descriptor. The network can verify provenance and enforce a topic write policy without learning an application-level identity, schema, or ranking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B9450-7A3B-4314-BEE6-2B8AE33C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36671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D6440-DA88-4EB6-B446-7E88FF42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385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Protocol can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A7AB0-0D0D-4040-95C0-B231989A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314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signature validity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topic descriptor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write policy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message freshness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827B9-563C-45A3-9BDC-A40A9BFC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95675"/>
            <a:ext cx="36671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8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22367-752F-4428-842E-141C9B4B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385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Protocol does not decide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8DE31-08D5-4E12-8CA7-5B10B8AC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76750"/>
            <a:ext cx="314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meaning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encryption scheme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moderation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ranking or feed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72F8D-7513-4569-85B4-55B8A59D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95675"/>
            <a:ext cx="36671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0DA"/>
          </a:solidFill>
          <a:ln xmlns:a="http://schemas.openxmlformats.org/drawingml/2006/main" w="9525">
            <a:solidFill>
              <a:srgbClr val="C95E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DDAFC-F5BD-428C-A407-ACFB460D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Application must 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8B357-5E93-4A97-8C9A-FAF84659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76750"/>
            <a:ext cx="314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schemas and codecs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confidentiality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UX and recovery</a:t>
            </a:r>
          </a:p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community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4AD23-0118-45DE-B8F3-D89254AB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02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Axona is designed to remove a global policy lever, not to remove the need for policy.</a:t>
            </a:r>
          </a:p>
        </p:txBody>
      </p:sp>
    </p:spTree>
    <p:extLst>
      <p:ext uri="{BB962C8B-B14F-4D97-AF65-F5344CB8AC3E}">
        <p14:creationId xmlns:p14="http://schemas.microsoft.com/office/powerpoint/2010/main" val="3310618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44400-F586-4CBE-8FBD-06F728C8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15 / EVIDENCE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B2F5E-5FFA-4357-8855-2DC6BCAD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D629C-DB7F-40BC-9007-B43A7BF8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4D850-A452-48EA-A241-735B36D6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8CB02-909E-44FF-B78C-17A07FDE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61F21-1971-4BEA-A1A2-20036141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simulator is an open lab bench, not a control plane.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A0EA7-04DE-4C4C-B564-95F31989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uses a large-scale model to test routing and delivery behavior before deployment. The methodology is part of the argument: source, assumptions, and limits must remain inspectable.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d34d55f2541f6"/>
          <a:stretch xmlns:a="http://schemas.openxmlformats.org/drawingml/2006/main"/>
        </p:blipFill>
        <p:spPr>
          <a:xfrm xmlns:a="http://schemas.openxmlformats.org/drawingml/2006/main">
            <a:off x="1028700" y="297180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AAE4D-9FAC-4179-B986-C0FA7100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A7B51-DDA5-4EBF-B805-765DF400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READ RESULTS CORRECTLY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6E0FD-4C14-413B-AF4B-59FB551D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38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3C703-0127-44D1-A90D-2BBEF98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38550"/>
            <a:ext cx="3648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Treat measurements as simulator evidence with stated assumptions, not a transport SLA.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94F79-DFA8-457A-B0F7-DBCF0910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00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C926C-ECBC-4F40-B23E-DBD2532E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00600"/>
            <a:ext cx="3648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Open evaluation lets reviewers compare variants, inspect limits, and challenge regressions.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4DBB4-5157-493C-989C-9CEB9BF8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962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0BFB2-C9DA-49E6-8B97-12F0C793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962650"/>
            <a:ext cx="3648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live network should not depend on behavioral surveillance to be improved.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5C5D9-46B5-4F5E-88A5-234A29DF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86650"/>
            <a:ext cx="1257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0" i="1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The pitch image at left is retained as a visual source reference; this deck makes no new benchmark claim.</a:t>
            </a:r>
          </a:p>
        </p:txBody>
      </p:sp>
    </p:spTree>
    <p:extLst>
      <p:ext uri="{BB962C8B-B14F-4D97-AF65-F5344CB8AC3E}">
        <p14:creationId xmlns:p14="http://schemas.microsoft.com/office/powerpoint/2010/main" val="4440675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44812-742A-4D5A-A029-1AC2DA9A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16 / APPLICATION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4591D-FC10-4C0D-9FD1-810EB3DF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3CD3B-23A1-432A-A8CE-E800976C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5B416-F3E9-4FCC-BBC3-E7ED6511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4DEF1-6560-4B03-BD10-E3313D16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299C6-4FD3-41F4-8F1F-EE3C843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An Axona application starts with descriptors and four verbs.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6C17F-EC22-408D-8CB4-00FEF5FE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protocol surface is intentionally small. Applications create content and subscriptions; the DHT supplies placement, replay, and delivery.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193D7-8EE7-4364-B14F-4A4AF47A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52775"/>
            <a:ext cx="4248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9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B9F86-671B-4C7F-ADBF-567FCA78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62325"/>
            <a:ext cx="37528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const topic = {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region: 'useast',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owner: me.authorId,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name: 'engineering',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write: 'owner'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};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4EFFF-5D75-4EE8-B9C7-EEAF2EA3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A7A"/>
                </a:solidFill>
                <a:latin typeface="Menlo"/>
                <a:ea typeface="Menlo"/>
                <a:cs typeface="Menlo"/>
              </a:defRPr>
            </a:pPr>
            <a:r>
              <a:rPr sz="2100" b="1" i="0">
                <a:solidFill>
                  <a:srgbClr val="1C7A7A"/>
                </a:solidFill>
                <a:latin typeface="Menlo"/>
                <a:ea typeface="Menlo"/>
                <a:cs typeface="Menlo"/>
              </a:rPr>
              <a:t>pub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ABD02-623A-41BA-8E1F-F02D06A7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2099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publish signed bytes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4C81C-00D8-4EC9-85F8-FB0910E8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74FA9-07C8-4F02-8A0F-DDB06099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A7A"/>
                </a:solidFill>
                <a:latin typeface="Menlo"/>
                <a:ea typeface="Menlo"/>
                <a:cs typeface="Menlo"/>
              </a:defRPr>
            </a:pPr>
            <a:r>
              <a:rPr sz="2100" b="1" i="0">
                <a:solidFill>
                  <a:srgbClr val="1C7A7A"/>
                </a:solidFill>
                <a:latin typeface="Menlo"/>
                <a:ea typeface="Menlo"/>
                <a:cs typeface="Menlo"/>
              </a:rPr>
              <a:t>sub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866E9-D96D-4B00-A027-DE949199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0862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receive replay + live tail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9EFEB-D25C-4479-BFA4-FC70D678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910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09E76-BA25-47A3-A2BF-8A082434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625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A7A"/>
                </a:solidFill>
                <a:latin typeface="Menlo"/>
                <a:ea typeface="Menlo"/>
                <a:cs typeface="Menlo"/>
              </a:defRPr>
            </a:pPr>
            <a:r>
              <a:rPr sz="2100" b="1" i="0">
                <a:solidFill>
                  <a:srgbClr val="1C7A7A"/>
                </a:solidFill>
                <a:latin typeface="Menlo"/>
                <a:ea typeface="Menlo"/>
                <a:cs typeface="Menlo"/>
              </a:rPr>
              <a:t>pull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5AF90-F12B-452D-A75E-0F6B8125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9625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resolve a message on demand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64531-863D-4202-879F-93B6FA80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673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BCB2A-2A76-4376-9DC0-19161FD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A7A"/>
                </a:solidFill>
                <a:latin typeface="Menlo"/>
                <a:ea typeface="Menlo"/>
                <a:cs typeface="Menlo"/>
              </a:defRPr>
            </a:pPr>
            <a:r>
              <a:rPr sz="2100" b="1" i="0">
                <a:solidFill>
                  <a:srgbClr val="1C7A7A"/>
                </a:solidFill>
                <a:latin typeface="Menlo"/>
                <a:ea typeface="Menlo"/>
                <a:cs typeface="Menlo"/>
              </a:rPr>
              <a:t>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5AA01-43F4-49D9-A2D5-11A0FEB0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8388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read advisory topic reach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4EC57-C4CB-4C58-A414-13CA88FF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3436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25E43-2A74-45DF-B2B9-A68AE7C6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543675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A7A"/>
          </a:solidFill>
          <a:ln xmlns:a="http://schemas.openxmlformats.org/drawingml/2006/main" w="0">
            <a:solidFill>
              <a:srgbClr val="1C7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45648-C21F-4C45-9A9F-B694B705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24625"/>
            <a:ext cx="1091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The descriptor is the coordination surface: when both sides name the same fields, they derive the same topic ID without a registry.</a:t>
            </a:r>
          </a:p>
        </p:txBody>
      </p:sp>
    </p:spTree>
    <p:extLst>
      <p:ext uri="{BB962C8B-B14F-4D97-AF65-F5344CB8AC3E}">
        <p14:creationId xmlns:p14="http://schemas.microsoft.com/office/powerpoint/2010/main" val="18575772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0F029-9610-4D55-BCCA-A572CDCB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17 / AI AS CODER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BA142-5EAF-45BC-975C-20F63598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E29F7-8F41-4A6F-82F0-3361FA0D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CC6C2-D0E7-4A21-A3E2-12C56F51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A834D-CC9C-465F-98A9-A7FFE72C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3EDB4-5F80-4B87-B1D1-9C137BA6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Give an AI coding agent a compact, versioned truth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A8F8F-EEBD-4C06-B7FA-3E9F5587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The agent should not invent the protocol. Hand it the current Axona AI Grounding file, pin the kernel version, and ask it to build against observable contracts.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2b9e1aefd459c"/>
          <a:stretch xmlns:a="http://schemas.openxmlformats.org/drawingml/2006/main"/>
        </p:blipFill>
        <p:spPr>
          <a:xfrm xmlns:a="http://schemas.openxmlformats.org/drawingml/2006/main">
            <a:off x="3189194" y="3267075"/>
            <a:ext cx="6004112" cy="2686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E0F7C-975D-4E98-93D5-5F857562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48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58B01-20D2-4C10-84FB-B5C20DA7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484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Ground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C1CB9-D4D6-48F1-8C8A-47444099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8961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Provide the AI Grounding file and a target kernel version.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794AD-4842-4F07-9EC3-ECFB0661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448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B83DC-0474-4D62-9358-803A0E46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4484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Constrain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B4F5B-E3EA-4AE4-B80E-4FBECB18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8961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Name the topic shape, author model, and delivery semantics.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894EA-34EB-4BD9-8B7F-9ECFD938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448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95086-387F-40D8-8F0C-88BD833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484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8804A-D15C-47C6-84A6-9D83E89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8961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Use two independent clients; validate replay, write policy, and shutdown.</a:t>
            </a:r>
          </a:p>
        </p:txBody>
      </p:sp>
    </p:spTree>
    <p:extLst>
      <p:ext uri="{BB962C8B-B14F-4D97-AF65-F5344CB8AC3E}">
        <p14:creationId xmlns:p14="http://schemas.microsoft.com/office/powerpoint/2010/main" val="17228406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6422B-F383-4552-AF84-7A4F322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18 / AI-CODED 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82E6E-0BD7-466B-9FDE-1BC67334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D6D66-949A-4E3D-8023-215FFE7E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7D82F-958F-4D3C-B13D-CA43CED7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2B172-9F28-483B-81CF-8EDCD20E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626DE-67CA-4E62-A885-28EB692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The minimum viable app is a round trip with explicit identities.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3CE94-C438-4B2F-A3AD-8E52E0BA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This illustrative starter mirrors the documented v4.48.0 surface: connect, define a descriptor, subscribe, publish with an author key, then stop cleanly.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AABCC-BC8F-4A85-AD97-97987809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81915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9"/>
          </a:solidFill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F4627-A840-4F6C-BC36-D0563E67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76575"/>
            <a:ext cx="76962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import { connect } from '@axona/protocol';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const { peer, author, disconnect } = await connect({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bridge: 'wss://testnet.axona.net',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location: { lat: 38.0, lng: -77.0 },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author: 'lab:author'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const topic = { region: 'useast', name: 'demo' };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const sub = await peer.sub(topic, env =&gt; console.log(env.message),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                           { since: 'all' });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await peer.pub(topic, { text: 'hello, mesh' }, { signWith: author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await sub.stop();</a:t>
            </a:r>
          </a:p>
          <a:p xmlns:a="http://schemas.openxmlformats.org/drawingml/2006/main">
            <a:pPr algn="l">
              <a:defRPr sz="1350" b="0" i="0">
                <a:solidFill>
                  <a:srgbClr val="2B353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2B3536"/>
                </a:solidFill>
                <a:latin typeface="Menlo"/>
                <a:ea typeface="Menlo"/>
                <a:cs typeface="Menlo"/>
              </a:rPr>
              <a:t>await disconnect();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DC414-0DCE-499D-A5F9-059DED20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81300"/>
            <a:ext cx="0" cy="474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BDA0E-661B-40E1-84FC-4D2B8800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05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AI REVIEW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6C4A0-AD9D-4FB3-8733-860D548B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38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7C54F-974A-4724-9358-354409FC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638550"/>
            <a:ext cx="3076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Wait for mesh readiness before assuming a publish reached the intended roots.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C2D8E-5420-4A51-9916-BF94DFD3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101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C8DD1-DFBD-4373-A674-478D45C2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810125"/>
            <a:ext cx="3076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Read env.message, not the whole envelope as the application body.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96323-7BF9-46DE-AE70-D3A43607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8197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02009-8E28-4CF1-BD4B-39385E5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819775"/>
            <a:ext cx="3076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Keep the author key distinct from the node key; every signed pub names signWith.</a:t>
            </a:r>
          </a:p>
        </p:txBody>
      </p:sp>
    </p:spTree>
    <p:extLst>
      <p:ext uri="{BB962C8B-B14F-4D97-AF65-F5344CB8AC3E}">
        <p14:creationId xmlns:p14="http://schemas.microsoft.com/office/powerpoint/2010/main" val="7817442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EE27E7-A9DE-45BF-AE6A-F188BAD0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19 / GOOD AGENT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05D1D-0E7B-486C-9F0D-A8EE510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C1C1E-901B-4808-98D4-25DA843C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6674C-B7CE-4C12-9E08-DB070C97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E3105-3305-4C09-A3CD-5918CE43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EE6F3-D410-4B55-8B2A-9518312B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AI-authored applications must honor the protocol's sharp edges.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71F42-F034-41EC-9ABA-DF4F9280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provides interoperability and delivery. An AI coder still needs to choose persistence, security policy, retention, and an intelligible social contract.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E821D-9763-4435-AA46-95B695F1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765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Durable authorship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F2047-CF01-4D13-B4B8-62984F6D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051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A1400-E56F-4EE2-BFB0-A1915E27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765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Persist the author identity intentionally; do not mistake a session node key for a persona.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D5E95-5FFF-4370-87ED-55CE15A4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Topic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BE831-7023-425C-B189-DF16FC77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3382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02009-0FE1-45C0-85EB-3E0173A5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05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Use owner-only topics for a feed that only its author can write; use open topics for shared rooms.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BECB6-42A7-4984-9B8B-34D216A9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339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Legibility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9C50C-B051-4067-B4CC-3C5CE1E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62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0EF51-8D21-4240-9FEA-AE8536F6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3392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An autonomous agent should voluntarily declare its author class as agent.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A80DF-033E-49EB-BC66-3B79E191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Payload discipline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767DA-6F4B-4673-AE55-14748288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5911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BD4FF-F581-452A-8093-24AC1D49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626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Treat 15 KB as the reliable floor; chunk large bytes; expect bounded replay and retention.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338FD-9FC6-4ED7-88DB-7120230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912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1FFFD-80B7-4935-B5E3-E7C927F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4198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A6E78-C7CE-4BA4-B153-81B3B53C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3912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Test two clients independently; do not infer distributed delivery from a single local echo.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278E6-2272-472A-A637-9540233A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391400"/>
            <a:ext cx="11887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C"/>
          </a:solidFill>
          <a:ln xmlns:a="http://schemas.openxmlformats.org/drawingml/2006/main" w="9525">
            <a:solidFill>
              <a:srgbClr val="1C7A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ED8693-61B7-44C4-9661-4DC115DC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77125"/>
            <a:ext cx="1143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AI is fastest when its freedom to generate is paired with an exact, testable protocol contract.</a:t>
            </a:r>
          </a:p>
        </p:txBody>
      </p:sp>
    </p:spTree>
    <p:extLst>
      <p:ext uri="{BB962C8B-B14F-4D97-AF65-F5344CB8AC3E}">
        <p14:creationId xmlns:p14="http://schemas.microsoft.com/office/powerpoint/2010/main" val="12428288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67D0A-E09A-4823-84EF-3186379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20 / APPLICATION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71692-E490-455D-AD1E-03D19C92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79E93-DA02-4718-86F7-27BC8B98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C015D-12CE-44A4-BE42-21229954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9E8C0-B321-417E-92EA-5DA1AB27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E73A8-A888-4377-83A5-B5C0A4B4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11144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A room can hold people and agents as peers without becoming the owner of either.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18F28-32EA-4B30-B11B-0B5059CC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Chat demonstrates the application-level possibility: a client can present conversation, discovery, and legibility while the protocol provides topic derivation and signed delivery.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ead08bdfb447f"/>
          <a:stretch xmlns:a="http://schemas.openxmlformats.org/drawingml/2006/main"/>
        </p:blipFill>
        <p:spPr>
          <a:xfrm xmlns:a="http://schemas.openxmlformats.org/drawingml/2006/main">
            <a:off x="1274212" y="3286125"/>
            <a:ext cx="8310077" cy="4524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5AB66-F25E-4A7A-9D39-4120BBE5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24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1F442-A33A-4145-86ED-0B5687F7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76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WHAT THE APP ADDS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04F8F-2EAA-4F75-9106-B9AE052C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29182-FD41-4346-A8B0-D843A57E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000500"/>
            <a:ext cx="2886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Room UI and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F561B-7559-4F06-9783-51B6034F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101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12263-D1CF-4AE4-A10D-7314718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810125"/>
            <a:ext cx="2886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Message formatting and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FDAFD-A85B-4112-AFE0-074337AC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19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DC101-B8E1-4C21-B946-8146FD8B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619750"/>
            <a:ext cx="2886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Visible author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87311-6FA8-4F14-9362-EB0C212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29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6EE3E-1432-428E-B46D-CD74D865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29375"/>
            <a:ext cx="2886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Local filters and moderation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6F204-2D7D-400C-9886-B5161003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72009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The app is allowed to have policy. It is not allowed to become a mandatory protocol gate.</a:t>
            </a:r>
          </a:p>
        </p:txBody>
      </p:sp>
    </p:spTree>
    <p:extLst>
      <p:ext uri="{BB962C8B-B14F-4D97-AF65-F5344CB8AC3E}">
        <p14:creationId xmlns:p14="http://schemas.microsoft.com/office/powerpoint/2010/main" val="15422787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11B32-A9B5-49A6-B0D1-26C02388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21 / 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91DCB-1F33-477B-BB3E-217F043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/ TECHNICAL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9F837-B8C2-45A0-A5E7-5B80AD9C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38509-F467-488D-B218-99D8C198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629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AXONA.NET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A253E-C864-4FE4-9010-EDF6F73F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162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dafce97fb4fb2"/>
          <a:srcRect xmlns:a="http://schemas.openxmlformats.org/drawingml/2006/main" l="0" t="280" r="0" b="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0" y="17526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C0796-AD16-4EA6-A751-E5651632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4275" b="1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Build applications at the 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D263E-F5CB-4705-989E-6BBBC7BA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575B5B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575B5B"/>
                </a:solidFill>
                <a:latin typeface="Georgia"/>
                <a:ea typeface="Georgia"/>
                <a:cs typeface="Georgia"/>
              </a:rPr>
              <a:t>Axona provides a place for messages and minds to meet without granting the transport a power to interpret or control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FBBCC-802C-4505-BBAF-99188FED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750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8E3B4-FED1-47F9-8BA6-6F70ABD6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For builders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21B4D-18EC-4686-82BB-55323FE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8191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41516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41516"/>
                </a:solidFill>
                <a:latin typeface="Georgia"/>
                <a:ea typeface="Georgia"/>
                <a:cs typeface="Georgia"/>
              </a:rPr>
              <a:t>Use location-aware addresses for locality. Let routing learn from success and repair from failure. Treat pub/sub, identity, and application policy as separate but composable contracts. Give AI agents grounded docs and tests, not guesses.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EAE2E-48B3-4D28-BAF6-D9A57D8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628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C7A7A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1C7A7A"/>
                </a:solidFill>
                <a:latin typeface="Georgia"/>
                <a:ea typeface="Georgia"/>
                <a:cs typeface="Georgia"/>
              </a:rPr>
              <a:t>Axona.net - open source protocol and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A4E69-E995-4F23-947C-3F7D14FD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438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Source concept: Axona Whitepaper v0.11</a:t>
            </a:r>
          </a:p>
          <a:p xmlns:a="http://schemas.openxmlformats.org/drawingml/2006/main">
            <a:pPr algn="l">
              <a:defRPr sz="1050" b="0" i="0">
                <a:solidFill>
                  <a:srgbClr val="8C8A80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C8A80"/>
                </a:solidFill>
                <a:latin typeface="Georgia"/>
                <a:ea typeface="Georgia"/>
                <a:cs typeface="Georgia"/>
              </a:rPr>
              <a:t>Style source: Axona Pitch v0.23</a:t>
            </a:r>
          </a:p>
        </p:txBody>
      </p:sp>
    </p:spTree>
    <p:extLst>
      <p:ext uri="{BB962C8B-B14F-4D97-AF65-F5344CB8AC3E}">
        <p14:creationId xmlns:p14="http://schemas.microsoft.com/office/powerpoint/2010/main" val="733738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2026-08-06T14:36:11.6740000Z</dcterms:created>
  <dcterms:modified xsi:type="dcterms:W3CDTF">2026-08-06T14:36:11.6740000Z</dcterms:modified>
</coreProperties>
</file>