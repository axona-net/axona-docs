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5f451ae9844d47" /><Relationship Type="http://schemas.openxmlformats.org/officeDocument/2006/relationships/extended-properties" Target="/docProps/app.xml" Id="R181917bc3aec499e" /><Relationship Type="http://schemas.openxmlformats.org/officeDocument/2006/relationships/officeDocument" Target="/ppt/presentation.xml" Id="R3e0fbe71a23543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84a683dec44d90"/>
  </p:sldMasterIdLst>
  <p:notesMasterIdLst>
    <p:notesMasterId xmlns:r="http://schemas.openxmlformats.org/officeDocument/2006/relationships" r:id="R7077736fbb7149ef"/>
  </p:notesMasterIdLst>
  <p:sldIdLst>
    <p:sldId xmlns:r="http://schemas.openxmlformats.org/officeDocument/2006/relationships" id="256" r:id="R8f4c76d09bc74693"/>
    <p:sldId xmlns:r="http://schemas.openxmlformats.org/officeDocument/2006/relationships" id="257" r:id="R69d10a9799c2470e"/>
    <p:sldId xmlns:r="http://schemas.openxmlformats.org/officeDocument/2006/relationships" id="258" r:id="Ra5f98eb0cb154d72"/>
    <p:sldId xmlns:r="http://schemas.openxmlformats.org/officeDocument/2006/relationships" id="259" r:id="R9081b00623644c29"/>
    <p:sldId xmlns:r="http://schemas.openxmlformats.org/officeDocument/2006/relationships" id="260" r:id="Rb6d6d9efbf7d4080"/>
    <p:sldId xmlns:r="http://schemas.openxmlformats.org/officeDocument/2006/relationships" id="261" r:id="Rf0d7b421c88c4ee6"/>
    <p:sldId xmlns:r="http://schemas.openxmlformats.org/officeDocument/2006/relationships" id="262" r:id="Rd32b15623ee94bdd"/>
    <p:sldId xmlns:r="http://schemas.openxmlformats.org/officeDocument/2006/relationships" id="263" r:id="R341ac52d3bc840dd"/>
    <p:sldId xmlns:r="http://schemas.openxmlformats.org/officeDocument/2006/relationships" id="264" r:id="Rfe31fba00fce48a3"/>
    <p:sldId xmlns:r="http://schemas.openxmlformats.org/officeDocument/2006/relationships" id="265" r:id="R67048a04dc4f4285"/>
    <p:sldId xmlns:r="http://schemas.openxmlformats.org/officeDocument/2006/relationships" id="266" r:id="R31649956d6484f33"/>
    <p:sldId xmlns:r="http://schemas.openxmlformats.org/officeDocument/2006/relationships" id="267" r:id="R5d66b135d0244bfb"/>
    <p:sldId xmlns:r="http://schemas.openxmlformats.org/officeDocument/2006/relationships" id="268" r:id="R6b7aee75160a45c5"/>
    <p:sldId xmlns:r="http://schemas.openxmlformats.org/officeDocument/2006/relationships" id="269" r:id="R09093cbe473543f8"/>
    <p:sldId xmlns:r="http://schemas.openxmlformats.org/officeDocument/2006/relationships" id="270" r:id="Rb6f46b55d9ab4de5"/>
    <p:sldId xmlns:r="http://schemas.openxmlformats.org/officeDocument/2006/relationships" id="271" r:id="R90d68378e2fc4d6c"/>
    <p:sldId xmlns:r="http://schemas.openxmlformats.org/officeDocument/2006/relationships" id="272" r:id="R29e9e9f393874d7f"/>
    <p:sldId xmlns:r="http://schemas.openxmlformats.org/officeDocument/2006/relationships" id="273" r:id="Rd5bbed6ec1f14d94"/>
    <p:sldId xmlns:r="http://schemas.openxmlformats.org/officeDocument/2006/relationships" id="274" r:id="Ra543f54d00034426"/>
    <p:sldId xmlns:r="http://schemas.openxmlformats.org/officeDocument/2006/relationships" id="275" r:id="R6157be482c3542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6e1c8e9064df4" /><Relationship Type="http://schemas.openxmlformats.org/officeDocument/2006/relationships/slideMaster" Target="/ppt/slideMasters/slideMaster1.xml" Id="R1284a683dec44d90" /><Relationship Type="http://schemas.openxmlformats.org/officeDocument/2006/relationships/notesMaster" Target="/ppt/notesMasters/notesMaster1.xml" Id="R7077736fbb7149ef" /><Relationship Type="http://schemas.openxmlformats.org/officeDocument/2006/relationships/presProps" Target="/ppt/presProps.xml" Id="Rb614dd07164c4b94" /><Relationship Type="http://schemas.openxmlformats.org/officeDocument/2006/relationships/tableStyles" Target="/ppt/tableStyles.xml" Id="R08f8aa07223b45d8" /><Relationship Type="http://schemas.openxmlformats.org/officeDocument/2006/relationships/slide" Target="/ppt/slides/slide1.xml" Id="R8f4c76d09bc74693" /><Relationship Type="http://schemas.openxmlformats.org/officeDocument/2006/relationships/slide" Target="/ppt/slides/slide2.xml" Id="R69d10a9799c2470e" /><Relationship Type="http://schemas.openxmlformats.org/officeDocument/2006/relationships/slide" Target="/ppt/slides/slide3.xml" Id="Ra5f98eb0cb154d72" /><Relationship Type="http://schemas.openxmlformats.org/officeDocument/2006/relationships/slide" Target="/ppt/slides/slide4.xml" Id="R9081b00623644c29" /><Relationship Type="http://schemas.openxmlformats.org/officeDocument/2006/relationships/slide" Target="/ppt/slides/slide5.xml" Id="Rb6d6d9efbf7d4080" /><Relationship Type="http://schemas.openxmlformats.org/officeDocument/2006/relationships/slide" Target="/ppt/slides/slide6.xml" Id="Rf0d7b421c88c4ee6" /><Relationship Type="http://schemas.openxmlformats.org/officeDocument/2006/relationships/slide" Target="/ppt/slides/slide7.xml" Id="Rd32b15623ee94bdd" /><Relationship Type="http://schemas.openxmlformats.org/officeDocument/2006/relationships/slide" Target="/ppt/slides/slide8.xml" Id="R341ac52d3bc840dd" /><Relationship Type="http://schemas.openxmlformats.org/officeDocument/2006/relationships/slide" Target="/ppt/slides/slide9.xml" Id="Rfe31fba00fce48a3" /><Relationship Type="http://schemas.openxmlformats.org/officeDocument/2006/relationships/slide" Target="/ppt/slides/slide10.xml" Id="R67048a04dc4f4285" /><Relationship Type="http://schemas.openxmlformats.org/officeDocument/2006/relationships/slide" Target="/ppt/slides/slide11.xml" Id="R31649956d6484f33" /><Relationship Type="http://schemas.openxmlformats.org/officeDocument/2006/relationships/slide" Target="/ppt/slides/slide12.xml" Id="R5d66b135d0244bfb" /><Relationship Type="http://schemas.openxmlformats.org/officeDocument/2006/relationships/slide" Target="/ppt/slides/slide13.xml" Id="R6b7aee75160a45c5" /><Relationship Type="http://schemas.openxmlformats.org/officeDocument/2006/relationships/slide" Target="/ppt/slides/slide14.xml" Id="R09093cbe473543f8" /><Relationship Type="http://schemas.openxmlformats.org/officeDocument/2006/relationships/slide" Target="/ppt/slides/slide15.xml" Id="Rb6f46b55d9ab4de5" /><Relationship Type="http://schemas.openxmlformats.org/officeDocument/2006/relationships/slide" Target="/ppt/slides/slide16.xml" Id="R90d68378e2fc4d6c" /><Relationship Type="http://schemas.openxmlformats.org/officeDocument/2006/relationships/slide" Target="/ppt/slides/slide17.xml" Id="R29e9e9f393874d7f" /><Relationship Type="http://schemas.openxmlformats.org/officeDocument/2006/relationships/slide" Target="/ppt/slides/slide18.xml" Id="Rd5bbed6ec1f14d94" /><Relationship Type="http://schemas.openxmlformats.org/officeDocument/2006/relationships/slide" Target="/ppt/slides/slide19.xml" Id="Ra543f54d00034426" /><Relationship Type="http://schemas.openxmlformats.org/officeDocument/2006/relationships/slide" Target="/ppt/slides/slide20.xml" Id="R6157be482c35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1a55df18647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b636e642a24fde" /><Relationship Type="http://schemas.openxmlformats.org/officeDocument/2006/relationships/notesMaster" Target="/ppt/notesMasters/notesMaster1.xml" Id="Rab9c4f6d8fcc43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9241d468840a1" /><Relationship Type="http://schemas.openxmlformats.org/officeDocument/2006/relationships/notesMaster" Target="/ppt/notesMasters/notesMaster1.xml" Id="R9ff2eac6c72540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4aaa4ec9c4f63" /><Relationship Type="http://schemas.openxmlformats.org/officeDocument/2006/relationships/notesMaster" Target="/ppt/notesMasters/notesMaster1.xml" Id="R18e56d43e0c4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1d03bd95de4aa0" /><Relationship Type="http://schemas.openxmlformats.org/officeDocument/2006/relationships/notesMaster" Target="/ppt/notesMasters/notesMaster1.xml" Id="R05a6ffe94b6447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f59b01cc642e2" /><Relationship Type="http://schemas.openxmlformats.org/officeDocument/2006/relationships/notesMaster" Target="/ppt/notesMasters/notesMaster1.xml" Id="R2437e1dd256541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4ebcbb6dee42ec" /><Relationship Type="http://schemas.openxmlformats.org/officeDocument/2006/relationships/notesMaster" Target="/ppt/notesMasters/notesMaster1.xml" Id="Reca8ca129e5a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f443da162d40a9" /><Relationship Type="http://schemas.openxmlformats.org/officeDocument/2006/relationships/notesMaster" Target="/ppt/notesMasters/notesMaster1.xml" Id="R0102df7b355b46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acfef73154444c" /><Relationship Type="http://schemas.openxmlformats.org/officeDocument/2006/relationships/notesMaster" Target="/ppt/notesMasters/notesMaster1.xml" Id="Rc4db6bc212ac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44319aee234e53" /><Relationship Type="http://schemas.openxmlformats.org/officeDocument/2006/relationships/notesMaster" Target="/ppt/notesMasters/notesMaster1.xml" Id="Rba384d8e6757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3d91b188ca4d52" /><Relationship Type="http://schemas.openxmlformats.org/officeDocument/2006/relationships/notesMaster" Target="/ppt/notesMasters/notesMaster1.xml" Id="R4605f1769fc048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b074db58764d52" /><Relationship Type="http://schemas.openxmlformats.org/officeDocument/2006/relationships/notesMaster" Target="/ppt/notesMasters/notesMaster1.xml" Id="R89abcd5321a843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336789ab9e46eb" /><Relationship Type="http://schemas.openxmlformats.org/officeDocument/2006/relationships/notesMaster" Target="/ppt/notesMasters/notesMaster1.xml" Id="R50bb1b0cfa2849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c468b541b14f39" /><Relationship Type="http://schemas.openxmlformats.org/officeDocument/2006/relationships/notesMaster" Target="/ppt/notesMasters/notesMaster1.xml" Id="R0a1e9957b9054c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17d82d57c644eb" /><Relationship Type="http://schemas.openxmlformats.org/officeDocument/2006/relationships/notesMaster" Target="/ppt/notesMasters/notesMaster1.xml" Id="R28a97df955824e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85efa3060e49fb" /><Relationship Type="http://schemas.openxmlformats.org/officeDocument/2006/relationships/notesMaster" Target="/ppt/notesMasters/notesMaster1.xml" Id="Re32d99f418ca47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d402ea07fc4b74" /><Relationship Type="http://schemas.openxmlformats.org/officeDocument/2006/relationships/notesMaster" Target="/ppt/notesMasters/notesMaster1.xml" Id="R00369c56be5044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5a4678e99c40d7" /><Relationship Type="http://schemas.openxmlformats.org/officeDocument/2006/relationships/notesMaster" Target="/ppt/notesMasters/notesMaster1.xml" Id="R3def8c5f833d4a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8321058c634044" /><Relationship Type="http://schemas.openxmlformats.org/officeDocument/2006/relationships/notesMaster" Target="/ppt/notesMasters/notesMaster1.xml" Id="R8beb56dafd114d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a5db93b98d419f" /><Relationship Type="http://schemas.openxmlformats.org/officeDocument/2006/relationships/notesMaster" Target="/ppt/notesMasters/notesMaster1.xml" Id="R73e3e80c90e446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2df614794c4a46" /><Relationship Type="http://schemas.openxmlformats.org/officeDocument/2006/relationships/notesMaster" Target="/ppt/notesMasters/notesMaster1.xml" Id="Rbfacdf6f2b4146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v0.11; Axona Pitch v0.23.</a:t>
            </a:r>
          </a:p>
          <a:p xmlns:a="http://schemas.openxmlformats.org/drawingml/2006/main">
            <a:r>
              <a:t>- Asset: images/AxonaLogo2.png.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"In one page"; Part I, "Architecture is politics, at every scale".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"The principle we did not invent"; sections 4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7 "From Lab to Network".</a:t>
            </a:r>
          </a:p>
          <a:p xmlns:a="http://schemas.openxmlformats.org/drawingml/2006/main">
            <a:r>
              <a:t>- Asset: images/Architecture-Layers.png.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1, 2, and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2 "Put the Address in the Address".</a:t>
            </a:r>
          </a:p>
          <a:p xmlns:a="http://schemas.openxmlformats.org/drawingml/2006/main">
            <a:r>
              <a:t>- Assets: images/Node-Address.svg; images/S2-Map.png.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3 "A Network That Learns Like a Brain"; vitality function.</a:t>
            </a:r>
          </a:p>
          <a:p xmlns:a="http://schemas.openxmlformats.org/drawingml/2006/main">
            <a:r>
              <a:t>- Asset: images/DHT-SIM-Image.png.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3 "The five operations".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3 and 6 "The Slice World test".</a:t>
            </a:r>
          </a:p>
          <a:p xmlns:a="http://schemas.openxmlformats.org/drawingml/2006/main">
            <a:r>
              <a:t>- Asset: images/Slice-World.png.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4 "Axons: Broadcast Without a Broadcaster".</a:t>
            </a:r>
          </a:p>
          <a:p xmlns:a="http://schemas.openxmlformats.org/drawingml/2006/main">
            <a:r>
              <a:t>- Axona AI Grounding v4.48.0, Topics; Publish / subscribe.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4: K-closest replication; lazy promotion; overload split; tree self-healing.</a:t>
            </a:r>
          </a:p>
          <a:p xmlns:a="http://schemas.openxmlformats.org/drawingml/2006/main">
            <a:r>
              <a:t>- Asset: images/Axonal-PubSub-Healing.png.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5 "Identity: A Signature, Not an Account".</a:t>
            </a:r>
          </a:p>
          <a:p xmlns:a="http://schemas.openxmlformats.org/drawingml/2006/main">
            <a:r>
              <a:t>- Axona Quick Start v4.48.0, "Two identities, one rule".</a:t>
            </a:r>
          </a:p>
          <a:p xmlns:a="http://schemas.openxmlformats.org/drawingml/2006/main">
            <a:r>
              <a:t>- Asset: images/Node-Address.svg.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5, 8 "The One Property", and 10.</a:t>
            </a:r>
          </a:p>
          <a:p xmlns:a="http://schemas.openxmlformats.org/drawingml/2006/main">
            <a:r>
              <a:t>- Axona AI Grounding v4.48.0, envelope shape; write policy;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6 "The Results" and 7 "From Lab to Network".</a:t>
            </a:r>
          </a:p>
          <a:p xmlns:a="http://schemas.openxmlformats.org/drawingml/2006/main">
            <a:r>
              <a:t>- Visual source: Axona Pitch v0.23, page 6 (rasterized for this deck).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Topics; Publish / subscribe; Reads without subscribing; Topic activity.</a:t>
            </a:r>
          </a:p>
          <a:p xmlns:a="http://schemas.openxmlformats.org/drawingml/2006/main">
            <a:r>
              <a:t>- Axona Quick Start v4.48.0, "Topics are descriptors, not strings".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HARD RULES; Field-observed mistakes; Verify with two clients.</a:t>
            </a:r>
          </a:p>
          <a:p xmlns:a="http://schemas.openxmlformats.org/drawingml/2006/main">
            <a:r>
              <a:t>- Asset: images/Build-Flow.svg.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Quick Start v4.48.0, steps 2-5.</a:t>
            </a:r>
          </a:p>
          <a:p xmlns:a="http://schemas.openxmlformats.org/drawingml/2006/main">
            <a:r>
              <a:t>- Axona AI Grounding v4.48.0, Canonical peer bootstrap; Publish / subscribe; Field-observed mistakes.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Agent legibility; Limits; Field-observed mistakes; Verify with two clients.</a:t>
            </a:r>
          </a:p>
          <a:p xmlns:a="http://schemas.openxmlformats.org/drawingml/2006/main">
            <a:r>
              <a:t>- Axona Quick Start v4.48.0, Going further.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13 implications for technologists and AI / alignment researchers.</a:t>
            </a:r>
          </a:p>
          <a:p xmlns:a="http://schemas.openxmlformats.org/drawingml/2006/main">
            <a:r>
              <a:t>- Axona AI Grounding v4.48.0, Agent legibility.</a:t>
            </a:r>
          </a:p>
          <a:p xmlns:a="http://schemas.openxmlformats.org/drawingml/2006/main">
            <a:r>
              <a:t>- Asset: images/axona-chat-live.png.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closing framing and section 14 "The Path Forward".</a:t>
            </a:r>
          </a:p>
          <a:p xmlns:a="http://schemas.openxmlformats.org/drawingml/2006/main">
            <a:r>
              <a:t>- Asset: images/Axona Ant.jpg.</a:t>
            </a:r>
          </a:p>
          <a:p xmlns:a="http://schemas.openxmlformats.org/drawingml/2006/main">
            <a:r>
              <a:t>- Style source: Axona Pitch v0.23.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a9e827bce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031d2882a441c" /><Relationship Type="http://schemas.openxmlformats.org/officeDocument/2006/relationships/slideLayout" Target="/ppt/slideLayouts/slideLayout1.xml" Id="R741cc13d7b4a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cc13d7b4a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a5f940c84427" /><Relationship Type="http://schemas.openxmlformats.org/officeDocument/2006/relationships/image" Target="/ppt/media/image.png" Id="R6747e885f3ae4e88" /><Relationship Type="http://schemas.openxmlformats.org/officeDocument/2006/relationships/notesSlide" Target="/ppt/notesSlides/notesSlide1.xml" Id="Rbbba1602aeb9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17fffc5b4dc7" /><Relationship Type="http://schemas.openxmlformats.org/officeDocument/2006/relationships/notesSlide" Target="/ppt/notesSlides/notesSlide2.xml" Id="Rb666c668278e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7d5021da2426f" /><Relationship Type="http://schemas.openxmlformats.org/officeDocument/2006/relationships/notesSlide" Target="/ppt/notesSlides/notesSlide3.xml" Id="R3f2a0b0798b847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55ea28c084a6c" /><Relationship Type="http://schemas.openxmlformats.org/officeDocument/2006/relationships/image" Target="/ppt/media/image2.png" Id="Rd8c430673c6b4451" /><Relationship Type="http://schemas.openxmlformats.org/officeDocument/2006/relationships/notesSlide" Target="/ppt/notesSlides/notesSlide4.xml" Id="R6f6341c6303b46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1378e80934274" /><Relationship Type="http://schemas.openxmlformats.org/officeDocument/2006/relationships/notesSlide" Target="/ppt/notesSlides/notesSlide5.xml" Id="R94c4b1085b87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d947d5efb4950" /><Relationship Type="http://schemas.openxmlformats.org/officeDocument/2006/relationships/image" Target="/ppt/media/image3.png" Id="R0452b96274e74a74" /><Relationship Type="http://schemas.openxmlformats.org/officeDocument/2006/relationships/image" Target="/ppt/media/image4.png" Id="Recdfed2703a84ad7" /><Relationship Type="http://schemas.openxmlformats.org/officeDocument/2006/relationships/notesSlide" Target="/ppt/notesSlides/notesSlide6.xml" Id="Rd5594214e359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8ef6f5c3249e7" /><Relationship Type="http://schemas.openxmlformats.org/officeDocument/2006/relationships/image" Target="/ppt/media/image5.png" Id="Rc084eec440444d86" /><Relationship Type="http://schemas.openxmlformats.org/officeDocument/2006/relationships/notesSlide" Target="/ppt/notesSlides/notesSlide7.xml" Id="R9e683aa905264e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987b87ba453d" /><Relationship Type="http://schemas.openxmlformats.org/officeDocument/2006/relationships/notesSlide" Target="/ppt/notesSlides/notesSlide8.xml" Id="Rb2f8155c995a44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fcecee5ba44f3" /><Relationship Type="http://schemas.openxmlformats.org/officeDocument/2006/relationships/image" Target="/ppt/media/image6.png" Id="R8ad995b2e2644fa9" /><Relationship Type="http://schemas.openxmlformats.org/officeDocument/2006/relationships/notesSlide" Target="/ppt/notesSlides/notesSlide9.xml" Id="R2c62d52870fe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d9dc6cbe64edb" /><Relationship Type="http://schemas.openxmlformats.org/officeDocument/2006/relationships/notesSlide" Target="/ppt/notesSlides/notesSlide10.xml" Id="Rdb891b95d3e74a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c153fca2e4848" /><Relationship Type="http://schemas.openxmlformats.org/officeDocument/2006/relationships/image" Target="/ppt/media/image7.png" Id="R15fdaf5814b14dc0" /><Relationship Type="http://schemas.openxmlformats.org/officeDocument/2006/relationships/notesSlide" Target="/ppt/notesSlides/notesSlide11.xml" Id="R184589728d3349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f1793d45d43d0" /><Relationship Type="http://schemas.openxmlformats.org/officeDocument/2006/relationships/image" Target="/ppt/media/image8.png" Id="Rc904bf0ada8647b9" /><Relationship Type="http://schemas.openxmlformats.org/officeDocument/2006/relationships/notesSlide" Target="/ppt/notesSlides/notesSlide12.xml" Id="R728cd4bc444c41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c5550d9b6442d" /><Relationship Type="http://schemas.openxmlformats.org/officeDocument/2006/relationships/notesSlide" Target="/ppt/notesSlides/notesSlide13.xml" Id="Rf74d6ee2c86f4d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7711236a94a38" /><Relationship Type="http://schemas.openxmlformats.org/officeDocument/2006/relationships/image" Target="/ppt/media/image9.png" Id="R57b0c6a02ddd469a" /><Relationship Type="http://schemas.openxmlformats.org/officeDocument/2006/relationships/notesSlide" Target="/ppt/notesSlides/notesSlide14.xml" Id="R8607fc746eec4a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2b5b4fe8542d1" /><Relationship Type="http://schemas.openxmlformats.org/officeDocument/2006/relationships/notesSlide" Target="/ppt/notesSlides/notesSlide15.xml" Id="Rb465ca730276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cb455e0a4c45" /><Relationship Type="http://schemas.openxmlformats.org/officeDocument/2006/relationships/image" Target="/ppt/media/image10.png" Id="Rc5a397dacea84ef3" /><Relationship Type="http://schemas.openxmlformats.org/officeDocument/2006/relationships/notesSlide" Target="/ppt/notesSlides/notesSlide16.xml" Id="R30a4c2f0d7284f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f2c972ab04b0e" /><Relationship Type="http://schemas.openxmlformats.org/officeDocument/2006/relationships/notesSlide" Target="/ppt/notesSlides/notesSlide17.xml" Id="R263f3887497941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e8cbb462d4bd5" /><Relationship Type="http://schemas.openxmlformats.org/officeDocument/2006/relationships/notesSlide" Target="/ppt/notesSlides/notesSlide18.xml" Id="Red75bb11b22c46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6524e6494497c" /><Relationship Type="http://schemas.openxmlformats.org/officeDocument/2006/relationships/image" Target="/ppt/media/image11.png" Id="R9f4f3eb72fc248c1" /><Relationship Type="http://schemas.openxmlformats.org/officeDocument/2006/relationships/notesSlide" Target="/ppt/notesSlides/notesSlide19.xml" Id="R1a0980c3e1304f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a52d2b80547c7" /><Relationship Type="http://schemas.openxmlformats.org/officeDocument/2006/relationships/image" Target="/ppt/media/image.jpeg" Id="R4073b8b440634916" /><Relationship Type="http://schemas.openxmlformats.org/officeDocument/2006/relationships/notesSlide" Target="/ppt/notesSlides/notesSlide20.xml" Id="R2ca446304de7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7e885f3ae4e88"/>
          <a:stretch xmlns:a="http://schemas.openxmlformats.org/drawingml/2006/main"/>
        </p:blipFill>
        <p:spPr>
          <a:xfrm xmlns:a="http://schemas.openxmlformats.org/drawingml/2006/main">
            <a:off x="889376" y="876300"/>
            <a:ext cx="1212098" cy="1219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BA246-87A0-43B8-9558-B70D5060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7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238B1-400A-48D9-A958-75B721E6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peer-to-peer substrate for a society of minds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01AA7-E580-4458-BDC3-41FCAAC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 technical introduction to an ownerless communication substrate, neuromorphic DHT routing, axonal pub/sub, and AI-assisted application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4BEBF-5B24-4937-A4BD-B59F2A0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95450"/>
            <a:ext cx="0" cy="470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86732-1811-46C5-ABC7-9DA1C065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62150"/>
            <a:ext cx="3286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 is a deployed peer-to-peer protocol. It uses learned routing and self-healing broadcast to let people, agents, and software coordinate without placing a privileged message intermediary in the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5D87F-AC10-4320-AD98-069C0D5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053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FOR TECHNICAL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D5A7F-45C8-45A3-81AA-2374BE44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387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Architecture first.</a:t>
            </a:r>
          </a:p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Application policy at the edge.</a:t>
            </a:r>
          </a:p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AI as a disciplined coding collaborator.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CD254-2819-4347-BFC2-17982D9F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81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Technical deck - v1.0 - August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756E1-9704-451B-9106-E8B94251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43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Style reference: Axona Pitch v0.23</a:t>
            </a:r>
          </a:p>
        </p:txBody>
      </p:sp>
    </p:spTree>
    <p:extLst>
      <p:ext uri="{BB962C8B-B14F-4D97-AF65-F5344CB8AC3E}">
        <p14:creationId xmlns:p14="http://schemas.microsoft.com/office/powerpoint/2010/main" val="375065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18A5A-2ED7-4072-B964-2BB7FDC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01 /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702A-2470-4EDA-98F8-D3E99D3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1D593-A4F3-4F23-9021-A7E089B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8FF1F-DABF-488E-ADF0-96A27AF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D4BA4-485A-47C8-A313-49263387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60E74-579F-4287-B736-3896AF8F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gate is usually built into the architecture.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8E606-6012-4E4F-AF44-47FA1F0E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Centralized application servers are convenient; they are also the place where observation, interruption, and pricing become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3DB30-157E-4517-8D64-38BA1DD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ED25B-F370-4A72-98AE-FBD5E025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7D109-0144-4D3E-ACF0-D1721AAA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Identity and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2C544-E671-415E-BD76-52B889FF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directory knows who is present.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F418F-D148-4AE7-952B-CF6B3BB3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0DA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E8082-3B99-4C94-AC6D-064F2894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0287-AE67-4A2C-B979-F92CE7D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Message relay and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296F6-4B94-4951-A68F-3C26ADF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path becomes a control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0F5F4-033B-4EB3-879D-2AF439A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DC83E-7C92-46F0-A9EA-588D07B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FCCC6-7231-4904-870C-6B0E8075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Ranking, policy, and monetization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FDA1F-8952-4D2C-89C9-34EA2CB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platform policy is applied to every exchange.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DE4E9-C7E8-41B0-B6F1-460451E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81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8"/>
          </a:solidFill>
          <a:ln xmlns:a="http://schemas.openxmlformats.org/drawingml/2006/main" w="0">
            <a:solidFill>
              <a:srgbClr val="C95E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1046D-7FEC-45E9-A0C7-DBE5F5A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362700"/>
            <a:ext cx="11772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Axona attacks the placement of the gate: find, route, and broadcast without granting a server authority over the message path.</a:t>
            </a:r>
          </a:p>
        </p:txBody>
      </p:sp>
    </p:spTree>
    <p:extLst>
      <p:ext uri="{BB962C8B-B14F-4D97-AF65-F5344CB8AC3E}">
        <p14:creationId xmlns:p14="http://schemas.microsoft.com/office/powerpoint/2010/main" val="1774722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526EA-9850-4586-B0C5-DD967C3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02 / THE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31087-CEC1-4972-916B-9A74DB6F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F15EB-4275-45B2-BBF2-D5C71EC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4027A-7BFA-43C0-B1FF-7935CDA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36B65-6EB3-4C07-829D-3FE0A1C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6BCFB-DB84-48BE-868B-DEBD458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One substrate carries signed, opaque bytes.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7D49C-224A-49B7-AAA2-46780B7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is not a social network. It is a peer-symmetric communication primitive on which applications choose their own schemas, policy, ranking, and encryption.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CA5B7-C7A5-44A8-AEE1-F5B651E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account 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CE7C7-1EA3-469F-BAB7-D3D3CBE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39924-4D4F-4D66-8382-F60740DE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Authorship is a key that signs messages; no central service owns the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29306-517E-4319-916A-B8712D0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privileged relay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48C0-9128-4B77-86EC-7B690B4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3C6FF-989F-4D29-8819-64CEC8EE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339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Nodes are peers in the routing fabric; a bootstrap service is not an authority once a mesh exists.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8F330-38E4-4BFD-89E6-6E154972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007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protocol-level content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BFCAB-A346-4599-8DB2-6576BC3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8483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B5A92-B4D6-4AB3-A806-CB42F09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007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network routes bytes; applications decide what the bytes mean and how they are treated.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76948-AB23-411B-BD18-46B9B610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05650"/>
            <a:ext cx="1152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80244-DC21-4779-868B-4D4E59CC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2199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Network function: deliver and heal. Edge function: interpret, secure, rank, govern.</a:t>
            </a:r>
          </a:p>
        </p:txBody>
      </p:sp>
    </p:spTree>
    <p:extLst>
      <p:ext uri="{BB962C8B-B14F-4D97-AF65-F5344CB8AC3E}">
        <p14:creationId xmlns:p14="http://schemas.microsoft.com/office/powerpoint/2010/main" val="855103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84A34-C399-4657-A0DD-29583E52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249C2-73D5-4890-9356-B4F0E05B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C5438-3026-427E-98BC-6997699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963B6-DA24-4985-966D-0C79297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5E9B6-A3E5-4309-8F65-1E92469B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11BFB-4E98-452F-A1F8-0CAB4F6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Three layers; two contracts; application power stays at the 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1CFA-672D-4CF4-81DD-0B021B0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protocol layer offers routing, identity verification, topic state, and axonal delivery. The application layer owns meaning.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430673c6b4451"/>
          <a:stretch xmlns:a="http://schemas.openxmlformats.org/drawingml/2006/main"/>
        </p:blipFill>
        <p:spPr>
          <a:xfrm xmlns:a="http://schemas.openxmlformats.org/drawingml/2006/main">
            <a:off x="1710679" y="3162300"/>
            <a:ext cx="5665492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4256F-C79E-4B4E-8F82-8D589A9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FB630-BAB5-41DD-936A-21005CD7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62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APPLICATION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94B16-875E-4138-AA7C-25D6B38A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4591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client decides message schema, encryption, feeds, moderation, and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CD6E7-4BA1-47F2-A480-42ED1E4D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PROTOCOL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89289-E11E-43DE-A33E-D5253D8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19675"/>
            <a:ext cx="4591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peer routes to a deterministic topic, verifies author signatures, hosts bounded replay, and heals delivery under churn.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CF9F9-946C-4EB4-AB15-FC367C27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3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TRANSPORT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6C22-79C3-40E7-9827-79573D2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772275"/>
            <a:ext cx="459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Browsers and Node processes connect over real transports. The bridge helps peers meet; it is not the network owner.</a:t>
            </a:r>
          </a:p>
        </p:txBody>
      </p:sp>
    </p:spTree>
    <p:extLst>
      <p:ext uri="{BB962C8B-B14F-4D97-AF65-F5344CB8AC3E}">
        <p14:creationId xmlns:p14="http://schemas.microsoft.com/office/powerpoint/2010/main" val="1065892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44BCE-294A-4528-A4AC-E656B04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04 / THE ROUTING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F16AF-7604-4D21-867F-C79D9C1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8767B-306D-42BF-ADE1-F9DEE9E1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820F9-4DCD-4026-A3F2-F1A9429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55EC8-B132-4C4F-9132-CA8FB20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C213C-6A9B-4B7A-A491-4756A85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O(log N) hops are not enough when every hop is global.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5B969-5A6B-4281-8883-20DD095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Kademlia solves decentralized discovery mathematically. Axona starts with the physical objection: latency is determined by geography, not just hop 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9703-266D-4AEE-A06E-CF5566CE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DHT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86CA7-39B0-46F5-8879-F89E5CA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How does a node locate a key when it only knows a few peers and no central directory?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63948-8C73-4AAC-917E-49750C29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physical constraint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4170C-884E-4FBD-B9D0-D3A216D6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path that is logarithmic in node count can still traverse the planet repeatedly. Real-time applications feel the round trips.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BA339-BA59-4F3E-A50B-F364735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28BCE-09E8-4486-8813-6E019E4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1152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5BD64-8DCC-4CFD-A6C2-DD5435C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 changes the routing substrate in two independent ways: geography makes local routes short; learning makes useful routes stronger.</a:t>
            </a:r>
          </a:p>
        </p:txBody>
      </p:sp>
    </p:spTree>
    <p:extLst>
      <p:ext uri="{BB962C8B-B14F-4D97-AF65-F5344CB8AC3E}">
        <p14:creationId xmlns:p14="http://schemas.microsoft.com/office/powerpoint/2010/main" val="1336088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30EE3-F439-4F50-BC00-46239E68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05 / GEOGRAPHIC DHT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4B685-6610-4EC2-AFF6-32DFBFB2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4A55C-CBDD-4C46-9009-3E704A9B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64C9A-9C40-4BF0-8D51-30BAF9A8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69F1A-C69B-46F3-8884-3AD7895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2982D-2E50-4530-ABCE-3E371E0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Put a coarse location in the address, not in a directory.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F8F0-BBFD-4227-B700-AB3E037E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G-DHT prefixes a node or topic ID with an S2 geographic cell. XOR distance now tends to preserve locality while the key-derived suffix keeps the address cryptographic.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2b96274e74a74"/>
          <a:stretch xmlns:a="http://schemas.openxmlformats.org/drawingml/2006/main"/>
        </p:blipFill>
        <p:spPr>
          <a:xfrm xmlns:a="http://schemas.openxmlformats.org/drawingml/2006/main">
            <a:off x="1118870" y="3105150"/>
            <a:ext cx="6563360" cy="2590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fed2703a84ad7"/>
          <a:stretch xmlns:a="http://schemas.openxmlformats.org/drawingml/2006/main"/>
        </p:blipFill>
        <p:spPr>
          <a:xfrm xmlns:a="http://schemas.openxmlformats.org/drawingml/2006/main">
            <a:off x="8011875" y="3086100"/>
            <a:ext cx="5883751" cy="2838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2F80-4B2D-4933-8521-F1B3B46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STRUCTURAL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859A8-121F-4BE7-BEE0-164E74D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77025"/>
            <a:ext cx="1266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Local traffic can be routed through numerically nearby peers instead of wandering by random identifier. A false location claim cannot fake observed latency.</a:t>
            </a:r>
          </a:p>
        </p:txBody>
      </p:sp>
    </p:spTree>
    <p:extLst>
      <p:ext uri="{BB962C8B-B14F-4D97-AF65-F5344CB8AC3E}">
        <p14:creationId xmlns:p14="http://schemas.microsoft.com/office/powerpoint/2010/main" val="1910121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95448-F0AC-412C-A61B-745925DF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06 / NEUROMORPHIC DHT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E481D-F64E-403E-AF21-BD3E9FE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8E273-71E0-4032-A71B-6C6A5CE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2E29-260E-49E7-9996-0F9C863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1331C-19F6-408B-940C-A1EBD590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2290-F386-4DA7-9471-F7789D3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routing table becomes a synaptome: a bounded, learnable set of peer edges.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1BA69-330C-4938-9CFE-36A862A6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peer cannot retain the whole network. It learns which connections deserve its finite connection budget by observing successful traffic.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4eec440444d86"/>
          <a:srcRect xmlns:a="http://schemas.openxmlformats.org/drawingml/2006/main" l="55" t="0" r="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15425" y="2724150"/>
            <a:ext cx="4905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89B11-956F-4282-9E05-D3F3E3C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CONNECTION VITALITY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E613F-00E3-4115-8235-5DC26AD6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88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vitality = weight x recency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CAD5A-F4C8-4BCA-8038-2E00FCE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670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Successful paths are reinforced. Idle links decay. Recently strengthened links receive a short protection window. When a table is full, the least vital edge makes room.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9F408-A77C-4DBE-A0AF-94CB9EE2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24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weight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84F06-2A9B-4D53-B4FC-F9818DE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05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learned usefulness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40229-B657-49E9-8640-6F2DF41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32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recency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31CB6-D1A7-432A-BF67-E17178B6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905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temporary protection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2F4F9-2791-47F9-88AF-C93B813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246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pruning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70B79-07A7-4B3D-B5F1-5FD6F4F6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905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capacity stays bounded</a:t>
            </a:r>
          </a:p>
        </p:txBody>
      </p:sp>
    </p:spTree>
    <p:extLst>
      <p:ext uri="{BB962C8B-B14F-4D97-AF65-F5344CB8AC3E}">
        <p14:creationId xmlns:p14="http://schemas.microsoft.com/office/powerpoint/2010/main" val="1842195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1ACF9-9508-47BA-BA9E-9872C5F1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07 / THE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8CC52-8312-4872-9BF9-56880B67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6A4DB-7591-4FB2-91EA-610AAF0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47BE7-6D95-4671-A788-2CE77563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0A8FB-5039-453A-BB46-4014745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1A1DA-0120-4156-8D9D-6491F61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Every peer repeats the same five adaptive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CE226-0D4B-42A6-9916-EEB71967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point is not a biological metaphor; the mechanisms are concrete routing-table operations applied after each lookup and under churn.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03461-5691-4849-A08B-9B9492A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8F8E2-4797-40C9-A074-80467E3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5D866-1571-446D-BF0C-982D46D3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NAVIGATE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D38A9-37A7-4896-AD4D-7E96913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Score next hops using progress, learned weight, and observed latency.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22318-9EAF-49C4-9EE8-EB1F8C32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7EC28-15E0-441E-937B-DB372188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F37C0-0C88-4361-9182-9654F2AB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29835-A1C4-4CFD-967C-7DED4BD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0A8DE-E400-4C69-9C63-951877A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Reinforce a fast successful path; cache destinations; create useful shortcuts.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EBA55-66B0-465F-AB0F-B0F1878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D581A-587E-4CDF-A42F-63E3B6E0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4C18E-F654-4B7C-9319-D92CF54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141DC-696C-425C-BD60-5D864374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FORGET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F2A06-F86C-4C91-B856-1D780627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Decay unused edges and evict the least vital entry when capacity is needed.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B4B03-EA6F-4289-A032-DC75A220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AAD47-5491-4905-B351-8DB6D1A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36784-29BC-44EF-950A-84A9C461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5CA4E-A7B7-42A4-9C13-F224C1A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EXPLORE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569BA-73F8-4C11-899F-F030C63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Inject bounded randomness; reheat after surprise to find new paths.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5EF33-206B-4659-AF4E-3CD4099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D2542-BEB7-4A63-A046-0203CF7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10046-F4E0-436C-9320-66AF49B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D7EA9D-CEFA-481A-B0B4-E8DD760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D9BF8-BAAE-4EA7-B72C-017A254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Bootstrap and maintain enough graph shape for discovery to keep working.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6B830-7D3F-4449-B0A9-8597B63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A7A"/>
          </a:solidFill>
          <a:ln xmlns:a="http://schemas.openxmlformats.org/drawingml/2006/main" w="0">
            <a:solidFill>
              <a:srgbClr val="1C7A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BB11D-16BD-4C5A-82E7-8EC85FB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38950"/>
            <a:ext cx="1234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routing layer improves from the traffic it carries, but keeps exploration so a good early path does not become a permanent blind spot.</a:t>
            </a:r>
          </a:p>
        </p:txBody>
      </p:sp>
    </p:spTree>
    <p:extLst>
      <p:ext uri="{BB962C8B-B14F-4D97-AF65-F5344CB8AC3E}">
        <p14:creationId xmlns:p14="http://schemas.microsoft.com/office/powerpoint/2010/main" val="794086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053D9-BFCA-42EB-A839-80FF138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08 / CHURN AND HEALING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EA0CF-3BA6-45A1-B407-DB9AA87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5F29B-7018-40CC-9C5F-924731D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CAD2-4EB7-4478-8BCF-B71D3178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B42AA-22E5-4C7E-94C1-3BEFE936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7383B-B4E2-4887-BDED-685C0CA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Failure is not a special control-plane event; it is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FC8E7-551A-48ED-97EB-5FE4B3F0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When nodes disappear, the graph loses useful edges. Axona warms exploration, retires bad routes, and converges on alternatives without asking a coordinator to repair the network.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995b2e2644fa9"/>
          <a:stretch xmlns:a="http://schemas.openxmlformats.org/drawingml/2006/main"/>
        </p:blipFill>
        <p:spPr>
          <a:xfrm xmlns:a="http://schemas.openxmlformats.org/drawingml/2006/main">
            <a:off x="1595729" y="3086100"/>
            <a:ext cx="4057067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25732-558A-4EB5-A3BC-137E81D4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14650"/>
            <a:ext cx="0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12D5-0A9F-45FB-810C-0EEADBA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WHAT CHANGES AFTER A BREAK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20F5B-B3C1-49B9-BDCC-2185BE3E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92D8F-F50B-455D-B764-620E05F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38550"/>
            <a:ext cx="5934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Dead peers are evicted instead of kept as stale directory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8C556-0BEB-434B-8266-B2556155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B9B49-22AE-4232-A4BE-B05A63E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76750"/>
            <a:ext cx="5934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Exploration temperature rises when the network is surprised by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46D9E-1873-429C-8CDC-18555E4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52B68-4B9F-4471-AC28-4BD1A6A0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14950"/>
            <a:ext cx="593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same routing mechanism finds a new live path; recovery does not require global membership knowledge.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5E7A3-3D22-4143-8C7E-9245478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5722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Healing is a property of the local rules, not a promise from a service operator.</a:t>
            </a:r>
          </a:p>
        </p:txBody>
      </p:sp>
    </p:spTree>
    <p:extLst>
      <p:ext uri="{BB962C8B-B14F-4D97-AF65-F5344CB8AC3E}">
        <p14:creationId xmlns:p14="http://schemas.microsoft.com/office/powerpoint/2010/main" val="1834447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BB34F-D4AA-48F3-9FDD-DDF65CA4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09 / AXONAL PUB-SUB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49480-EDDA-4CA5-A77B-9C619EF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0B553-1283-4731-A982-2DE8562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3A533-695E-4F84-BD4F-3C9E2DAB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B8A56-03D1-40A8-BBB9-490D6F5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9D88-0E08-496A-97C4-3AF0E4AE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topic is computed, replicated, and routed - never assigned by a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9E12D-C646-4B82-89D1-C759FAE1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Axonal pub/sub turns the DHT into a broadcast substrate: publishers and subscribers independently derive the same topic identity and meet at its K-closest replicas.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C43B5-8190-4835-9A7E-FC012DB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CD3AC-DF59-4837-A91F-4A3248A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Topic descriptor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08F0-997C-4BAD-8BEE-174997CE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575B5B"/>
                </a:solidFill>
                <a:latin typeface="Menlo"/>
                <a:ea typeface="Menlo"/>
                <a:cs typeface="Menlo"/>
              </a:rPr>
              <a:t>{ region, owner?, name, write?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BD080-F1DA-470A-9B66-CBC2BC85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DC198-DFB3-403A-8917-83C4F7E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59432-5353-4366-92A0-3642E2E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Deterministic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1F219-1A2E-4D26-B212-F49001C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575B5B"/>
                </a:solidFill>
                <a:latin typeface="Menlo"/>
                <a:ea typeface="Menlo"/>
                <a:cs typeface="Menlo"/>
              </a:rPr>
              <a:t>same descriptor -&gt; same 264-bit topic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B3AA2-ACFD-417F-ABA0-987D543C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BC2B6-83FA-44B3-8489-9F3405F2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C1EDE-B903-42F3-A3A7-B7DBE38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K-close roots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024A2-724B-4D25-8055-E92BF82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default K=5 replicas hold bounded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3077D-D5EB-4B7C-B86D-26F5EC3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1F794-1B17-4845-B057-9AB8ACCC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6CB9F-3118-495B-AD69-9D26D54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Fan-out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F2155-A01B-46CD-ABAE-E3891BD3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roots relay to subscribers and sub-axons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8C86F-CDD7-423F-B3D4-1E675C7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1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Publisher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08F67-B73A-4A48-A000-88CF6B30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1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Subscribe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94DA7-ED1B-47C6-A98F-7B414574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86550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Both paths converge on the same roots because identity is derived, not allocated.</a:t>
            </a:r>
          </a:p>
        </p:txBody>
      </p:sp>
    </p:spTree>
    <p:extLst>
      <p:ext uri="{BB962C8B-B14F-4D97-AF65-F5344CB8AC3E}">
        <p14:creationId xmlns:p14="http://schemas.microsoft.com/office/powerpoint/2010/main" val="65012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B8F02-8BA2-4F06-821E-30CD687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10 / BROADCAST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E8DD0-34AF-4EA9-AEF3-D09DF824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7CB0-2887-48A0-B1F5-21FB4233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A347C-3FE4-49BF-9B55-4569363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B719B-FD64-42E8-8A9E-CBF82FE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19A76-FCDE-46A8-8B1C-DE525626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delivery tree grows toward the audience and heals by re-subscribe.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FCFA6-70BF-4D69-A3EF-3DFAB02C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Small topics use the K-close replicas directly. Under load, a relay splits into sub-axons. When a branch fails, surviving subtrees re-attach through the same routed subscribe operation.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daf5814b14dc0"/>
          <a:stretch xmlns:a="http://schemas.openxmlformats.org/drawingml/2006/main"/>
        </p:blipFill>
        <p:spPr>
          <a:xfrm xmlns:a="http://schemas.openxmlformats.org/drawingml/2006/main">
            <a:off x="2692223" y="3086100"/>
            <a:ext cx="5759803" cy="413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8173C-D49C-4C8D-B8EF-8BA5777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3ACBF-15D3-4FE1-B036-E95CB23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81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5B8CC-4121-4D24-A5AB-EC546760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7665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parent registry.</a:t>
            </a:r>
          </a:p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global failure detector.</a:t>
            </a:r>
          </a:p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central repair coordinator.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62114-DC90-4E96-817B-DD5E621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619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State remains bounded: replica cache and subscriber state are held by peers at the edge of the topic topology.</a:t>
            </a:r>
          </a:p>
        </p:txBody>
      </p:sp>
    </p:spTree>
    <p:extLst>
      <p:ext uri="{BB962C8B-B14F-4D97-AF65-F5344CB8AC3E}">
        <p14:creationId xmlns:p14="http://schemas.microsoft.com/office/powerpoint/2010/main" val="1770539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9B81F-8940-40CF-B8BE-EAD0AC84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11 /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839AD-75DE-470C-812D-26E938AB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E6FE8-E762-4FE5-BDAF-81DB5F88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F9ACC-65D5-43C5-BBA8-46AF901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16607-B392-46BF-BF8A-62F3773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7E094-79C0-4C3C-95CD-72A6FBF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node that routes is not the author that speaks.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A15C6-01B9-4D3F-A65A-F71473A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deliberately separates transport identity from durable authorship. This decouples the network location used for routing from the cryptographic key used to sign a contribution.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4bf0ada8647b9"/>
          <a:stretch xmlns:a="http://schemas.openxmlformats.org/drawingml/2006/main"/>
        </p:blipFill>
        <p:spPr>
          <a:xfrm xmlns:a="http://schemas.openxmlformats.org/drawingml/2006/main">
            <a:off x="1047750" y="3100137"/>
            <a:ext cx="8953500" cy="353427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A7AE-0E71-4986-9500-1BE4CE4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5F7D5-94AA-4855-BF69-21B85FE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051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NODE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AF47C-6DCB-4780-BDEF-01ECD2C3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480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66-hex ID. Geographic prefix + public-key hash. Authenticates a transport session; can be short-lived.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0E465-4A1E-4F5B-AD49-C3BC87AC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9530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AUTHOR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1A20-3BFF-4558-A395-D1F614B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959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64-hex Ed25519 public key. Signs messages. Location-free. Persists when an application chooses to retain it.</a:t>
            </a:r>
          </a:p>
        </p:txBody>
      </p:sp>
    </p:spTree>
    <p:extLst>
      <p:ext uri="{BB962C8B-B14F-4D97-AF65-F5344CB8AC3E}">
        <p14:creationId xmlns:p14="http://schemas.microsoft.com/office/powerpoint/2010/main" val="1397591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663B6-74C5-4FAF-BD91-0037126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12 / SECURITY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1BF6-EF3C-4F24-8216-72A978A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64EB2-CBD0-49BF-BC27-F1C07249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77C53-7422-457A-BEAC-096486C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A8F1C-3D12-47CB-A61B-A28FB8C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A14C4-8FF4-420E-8055-424EA4F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Opaque signed bytes are the protocol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FE4C0-5A28-4778-A30C-9B47DA2C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signature binds an author and a topic descriptor. The network can verify provenance and enforce a topic write policy without learning an application-level identity, schema, or ranking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89024-2A2A-4F01-81BE-8546D3D1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D0A1F-C267-4B6D-A6CB-1CB3037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Protocol can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219CF-4BC9-46C1-8C8F-B61D01EB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signature validity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topic descriptor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write policy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message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9920-D6C3-468D-9EC4-BD5A00F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8F39B-6717-4A2B-9E40-4F8BCC53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Protocol does not 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FB2BF-9E78-4E8B-8617-682EF3E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meaning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encryption scheme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moderation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ranking or feed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B5A22-72D3-4987-B451-B73CAA0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0DA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EFE32-5D98-41B4-8128-A3C119B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Application must 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02CC-58CE-496C-89A5-EA0F3A09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schemas and codecs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confidentiality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UX and recovery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community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F78C5-3383-4C6D-AB08-4382E13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Axona is designed to remove a global policy lever, not to remove the need for policy.</a:t>
            </a:r>
          </a:p>
        </p:txBody>
      </p:sp>
    </p:spTree>
    <p:extLst>
      <p:ext uri="{BB962C8B-B14F-4D97-AF65-F5344CB8AC3E}">
        <p14:creationId xmlns:p14="http://schemas.microsoft.com/office/powerpoint/2010/main" val="9048857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FF8AD-F20F-45D5-8888-2B2E279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13 / 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7D6A7-940E-4897-AD66-F237F8F6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33A45-B3FE-4CB1-B88D-F874A487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709F4-4274-4C36-A02B-DEAE6DE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26599-EADF-421E-BA04-715B860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B451-E875-4349-8A7F-D2333A1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simulator is an open lab bench, not a control plane.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7FC28-6BBC-4A46-BC0F-16829BCB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uses a large-scale model to test routing and delivery behavior before deployment. The methodology is part of the argument: source, assumptions, and limits must remain inspectable.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c6a02ddd469a"/>
          <a:stretch xmlns:a="http://schemas.openxmlformats.org/drawingml/2006/main"/>
        </p:blipFill>
        <p:spPr>
          <a:xfrm xmlns:a="http://schemas.openxmlformats.org/drawingml/2006/main">
            <a:off x="1028700" y="297180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3FB83-C43C-43D6-88A0-E2ECE944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53782-5616-46BF-85EB-A0C80FC1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READ RESULTS CORRECTLY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4E53E-69F2-4CE9-B3C5-7B82A1FA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C497D-7126-4BD8-A870-9437E660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3855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Treat measurements as simulator evidence with stated assumptions, not a transport SLA.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E8E87-F5B9-446F-A502-3597061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00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53C40-A047-4D0E-917C-519DE5C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0060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Open evaluation lets reviewers compare variants, inspect limits, and challenge regressions.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46457-7BEA-4D80-9E06-75407BF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962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AADBB-E44A-446D-99DB-9A3688E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6265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live network should not depend on behavioral surveillance to be improved.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8D602-5CCB-42E4-A908-E9A101D4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86650"/>
            <a:ext cx="1257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The pitch image at left is retained as a visual source reference; this deck makes no new benchmark claim.</a:t>
            </a:r>
          </a:p>
        </p:txBody>
      </p:sp>
    </p:spTree>
    <p:extLst>
      <p:ext uri="{BB962C8B-B14F-4D97-AF65-F5344CB8AC3E}">
        <p14:creationId xmlns:p14="http://schemas.microsoft.com/office/powerpoint/2010/main" val="2107692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498D1-13F7-4EC9-91C7-51FA7FB1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14 / APPLICATION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EFF22-D432-4672-842A-3112EAE0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A099-2096-4538-A65A-34D84644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C8971-FB77-4F98-9D91-4BE01E8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0518A-BE8E-4998-83E5-BFFFED9E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25598-803B-4E2B-B502-D73EA8C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An Axona application starts with descriptors and four verbs.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203F7-FDE9-489E-B4BB-75D5C3D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protocol surface is intentionally small. Applications create content and subscriptions; the DHT supplies placement, replay, and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0CD8A-787B-425A-B55F-00FD090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52775"/>
            <a:ext cx="4248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9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6E91-0B90-4199-916C-6DC0A38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62325"/>
            <a:ext cx="37528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topic = {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region: 'useast',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owner: me.authorId,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name: 'engineering',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write: 'owner'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E631-8535-48B0-A572-4B166BC1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pub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B42AF-7149-458D-AF0D-5D7AEAA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099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publish signed bytes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BA545-F5A6-4E45-8C35-3C1E7961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C8894-9F92-4F6D-B03A-3D69FD0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sub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D933D-50A1-4E8F-AB2B-9E2B6DC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862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receive replay + live 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F2151-7504-43EC-94A2-7FA624DE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40DEA-F129-44F0-A054-2C01328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pull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D5C7B-9C39-49DD-8DE2-40EDCCC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962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resolve a message on demand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B1C52-B59B-4C7E-BF61-7D29761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673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6B809-6E05-466A-BC81-687646B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87F0D-18EC-446A-AE99-A538DB9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8388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read advisory topic reach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0458A-FAAE-4602-B421-0CC46C7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3436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07A06-A7D7-4C4C-A80A-4407E7F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4367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A7A"/>
          </a:solidFill>
          <a:ln xmlns:a="http://schemas.openxmlformats.org/drawingml/2006/main" w="0">
            <a:solidFill>
              <a:srgbClr val="1C7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D591B-9682-4AE2-91AD-7C0D7D6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24625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descriptor is the coordination surface: when both sides name the same fields, they derive the same topic ID without a registry.</a:t>
            </a:r>
          </a:p>
        </p:txBody>
      </p:sp>
    </p:spTree>
    <p:extLst>
      <p:ext uri="{BB962C8B-B14F-4D97-AF65-F5344CB8AC3E}">
        <p14:creationId xmlns:p14="http://schemas.microsoft.com/office/powerpoint/2010/main" val="8905387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B518F-0C1C-444D-9B3A-37186A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15 / AI AS CODER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92EC1-1DA8-499F-9835-7C57518B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4F610-E323-43DA-8E87-3F3EF274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8C735-AABC-4C7D-87AA-51FF653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418FB-5B98-4C58-9D9F-CA80F03F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834E4-8D85-4593-BF80-EFFF712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Give an AI coding agent a compact, versioned truth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CA35E-0692-4242-BEB5-4CF8B8AC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agent should not invent the protocol. Hand it the current Axona AI Grounding file, pin the kernel version, and ask it to build against observable contracts.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397dacea84ef3"/>
          <a:stretch xmlns:a="http://schemas.openxmlformats.org/drawingml/2006/main"/>
        </p:blipFill>
        <p:spPr>
          <a:xfrm xmlns:a="http://schemas.openxmlformats.org/drawingml/2006/main">
            <a:off x="3189194" y="3267075"/>
            <a:ext cx="6004112" cy="2686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E2E61-0E4F-4CC4-88DD-540728FB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64C26-BC04-4345-8DB6-6148763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Ground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F82A6-CC2F-43EF-8130-E5F2118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Provide the AI Grounding file and a target kernel version.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B67CD-9354-4CB8-A780-2DFE15B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5094E-9594-48B6-8431-178C4E0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Constrain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EBB1D-EADA-4AF9-843C-BC1DB87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Name the topic shape, author model, and delivery semantics.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294BE-2FE2-414F-9777-8A5C42F2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8FF79-6019-4759-AF61-1E74C203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85F2C-84E7-4F24-A912-71747AE4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Use two independent clients; validate replay, write policy, and shutdown.</a:t>
            </a:r>
          </a:p>
        </p:txBody>
      </p:sp>
    </p:spTree>
    <p:extLst>
      <p:ext uri="{BB962C8B-B14F-4D97-AF65-F5344CB8AC3E}">
        <p14:creationId xmlns:p14="http://schemas.microsoft.com/office/powerpoint/2010/main" val="20064068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FD6AB-FCCC-4C47-A6C5-F67A70C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16 / AI-CODED 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E0E2-81A6-4917-B3BC-A4B688EF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AEA8C-F7DF-4257-9977-12C44E39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6FE8E-DC13-4460-A4A2-EDF4FAC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7DF0A-6CC7-44B2-98FA-E84E9166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4B6EA-4949-4531-A8B7-3465D42A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minimum viable app is a round trip with explicit identities.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2EE9-2D0C-4BCD-8073-B68F1AE3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This illustrative starter mirrors the documented v4.48.0 surface: connect, define a descriptor, subscribe, publish with an author key, then stop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4CD84-1B1B-48E3-B190-82324E30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81915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9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F7D26-2C8D-46FB-A7EF-E8B5BD50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76575"/>
            <a:ext cx="7696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import { connect } from '@axona/protocol';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{ peer, author, disconnect } = await connect({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bridge: 'wss://testnet.axona.net',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location: { lat: 38.0, lng: -77.0 },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author: 'lab:author'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topic = { region: 'useast', name: 'demo' };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sub = await peer.sub(topic, env =&gt; console.log(env.message),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                         { since: 'all' });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peer.pub(topic, { text: 'hello, mesh' }, { signWith: author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sub.stop();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disconnect();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D2611-7D43-43D5-A9C3-CE404B3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0" cy="474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693F5-E628-481A-B328-EB836AA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05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AI REVIEW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35121-2781-44E9-BB05-B440722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7E25A-B45C-46C4-986E-70E011B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38550"/>
            <a:ext cx="3076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Wait for mesh readiness before assuming a publish reached the intended roots.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8643B-3FE8-4986-9ADD-EB1E1DD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10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2C1B4-3572-46C5-A159-5BAB2D3A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810125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Read env.message, not the whole envelope as the application body.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19920-AD36-4005-A96B-74F57ED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19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BF507-5DCF-461D-BBA1-904B58DC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819775"/>
            <a:ext cx="3076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Keep the author key distinct from the node key; every signed pub names signWith.</a:t>
            </a:r>
          </a:p>
        </p:txBody>
      </p:sp>
    </p:spTree>
    <p:extLst>
      <p:ext uri="{BB962C8B-B14F-4D97-AF65-F5344CB8AC3E}">
        <p14:creationId xmlns:p14="http://schemas.microsoft.com/office/powerpoint/2010/main" val="18592617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D22B9-7C30-45FA-AAA1-CF5F875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17 / GOOD AGENT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F3783-001D-477F-94CE-391786F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DD187-FCCE-4231-BE41-A3A8C1A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5E469-F256-48CF-97DF-BE4F416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55EC-7F61-4427-9DF8-9FE0A5E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89207-99D8-488C-9A24-0BD4C62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AI-authored applications must honor the protocol’s sharp edges.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CE733-5B1D-4D7C-9F3B-A8CA93B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provides interoperability and delivery. An AI coder still needs to choose persistence, security policy, retention, and an intelligible social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18D6B-63F0-4EC1-B1B5-0D09F82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76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Durable authorship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5C2FA-D5E3-4149-81FA-88E8430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7C795-A57C-44D7-972A-5A22E38B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765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Persist the author identity intentionally; do not mistake a session node key for a persona.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9DFFD-391C-4DE9-9FCB-96A6DB27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Topic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00240-2F5F-48C8-82F5-CEF0D72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3382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0852A-84C9-457A-AF3B-8995F53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05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Use owner-only topics for a feed that only its author can write; use open topics for shared rooms.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46788-6DB4-422D-9F91-E91089E0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Legibility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BC107-5A55-46E9-9554-CA3872ED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65EAE-B62B-4168-BA09-75496DD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339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An autonomous agent should voluntarily declare its author class as agent.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53B6B-95DF-4300-902B-8C63C32B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Payload discipline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7A5C1-9A93-4058-9E9D-F0263EE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911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E6ABC-9795-4B99-BEB6-12439DE0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626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Treat 15 KB as the reliable floor; chunk large bytes; expect bounded replay and retention.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53539-A837-4719-A255-33A2CFF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912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5F49C-DC02-491B-8DAC-0285EE2D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4198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1231F-00FB-476A-87EE-93908B74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3912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Test two clients independently; do not infer distributed delivery from a single local echo.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CAF6D-E799-4A36-B048-7528EB0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391400"/>
            <a:ext cx="11887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C2D3F-A5C7-4448-8DA7-59265F14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77125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AI is fastest when its freedom to generate is paired with an exact, testable protocol contract.</a:t>
            </a:r>
          </a:p>
        </p:txBody>
      </p:sp>
    </p:spTree>
    <p:extLst>
      <p:ext uri="{BB962C8B-B14F-4D97-AF65-F5344CB8AC3E}">
        <p14:creationId xmlns:p14="http://schemas.microsoft.com/office/powerpoint/2010/main" val="17024639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96036-FE72-4AE8-A526-B0334E2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18 / APPLICATION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0D25E-30B7-40E6-A19C-94E55EA2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DF452-4DE0-4151-99F0-7296222C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2BF23-6FF0-4295-A40C-E46793F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B8343-C7DD-47CC-8265-0615FC6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71AF-BD39-4642-A0AF-8034566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11144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room can hold people and agents as peers without becoming the owner of either.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A296F-5596-4BBE-85A1-9F8C38E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Chat demonstrates the application-level possibility: a client can present conversation, discovery, and legibility while the protocol provides topic derivation and signed delivery.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f3eb72fc248c1"/>
          <a:stretch xmlns:a="http://schemas.openxmlformats.org/drawingml/2006/main"/>
        </p:blipFill>
        <p:spPr>
          <a:xfrm xmlns:a="http://schemas.openxmlformats.org/drawingml/2006/main">
            <a:off x="1274212" y="3286125"/>
            <a:ext cx="8310077" cy="4524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CEDE-0269-44CB-AAFF-0475C6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F9A8E-A723-462A-B80E-AE16E372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WHAT THE APP ADDS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91B1F-3C02-49B6-A89C-3A59B5C4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8A322-E71B-46A6-A83F-D3D0B8B1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000500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Room UI and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50D14-34BE-409D-BFF0-7734B1F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10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10B43-72F3-4EF6-8F36-9E903829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810125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Message formatting and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658E2-4B9D-4E39-8503-64C8F37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19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3FBE9-C330-4890-B2C5-4E58153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619750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Visible author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F299-1AD4-48AC-AAE4-080D5439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29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878C5-5433-4CF9-BBB2-C777019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29375"/>
            <a:ext cx="2886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Local filters and moderation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1DDF5-AA11-49AC-BA45-42C67490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2009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app is allowed to have policy. It is not allowed to become a mandatory protocol gate.</a:t>
            </a:r>
          </a:p>
        </p:txBody>
      </p:sp>
    </p:spTree>
    <p:extLst>
      <p:ext uri="{BB962C8B-B14F-4D97-AF65-F5344CB8AC3E}">
        <p14:creationId xmlns:p14="http://schemas.microsoft.com/office/powerpoint/2010/main" val="20225717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CA353-95D1-4527-A7B7-82D017B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19 /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66BB3-E934-4F7B-B243-E4BD9E3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5753-C468-4D53-B586-938B269A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58F46-4B19-4809-B72B-60F7B5A0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EC300-E9C6-422E-AFA3-27EAFC5C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3b8b440634916"/>
          <a:srcRect xmlns:a="http://schemas.openxmlformats.org/drawingml/2006/main" l="0" t="280" r="0" b="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17526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A57AB-8B48-43A1-B8C7-B516483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Build applications at the 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A629-D3B7-40CE-BCFE-808E8211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provides a place for messages and minds to meet without granting the transport a power to interpret or control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3612B-7274-4DB6-96F2-54CBC76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5AFF-2137-410A-821A-D6C87D1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For builders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84B95-A29E-42CF-ACD7-C0CB0F28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8191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Use location-aware addresses for locality. Let routing learn from success and repair from failure. Treat pub/sub, identity, and application policy as separate but composable contracts. Give AI agents grounded docs and tests, not guesses.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E19BC-17E3-4D42-892F-3DBEFC8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628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Axona.net - open source protocol and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F5755-0E48-4A9E-8284-E97A7B7D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438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Source concept: Axona Whitepaper v0.11</a:t>
            </a:r>
          </a:p>
          <a:p xmlns:a="http://schemas.openxmlformats.org/drawingml/2006/main">
            <a:pPr algn="l">
              <a:def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Style source: Axona Pitch v0.23</a:t>
            </a:r>
          </a:p>
        </p:txBody>
      </p:sp>
    </p:spTree>
    <p:extLst>
      <p:ext uri="{BB962C8B-B14F-4D97-AF65-F5344CB8AC3E}">
        <p14:creationId xmlns:p14="http://schemas.microsoft.com/office/powerpoint/2010/main" val="1573026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2026-08-06T14:15:58.1520000Z</dcterms:created>
  <dcterms:modified xsi:type="dcterms:W3CDTF">2026-08-06T14:15:58.1520000Z</dcterms:modified>
</coreProperties>
</file>